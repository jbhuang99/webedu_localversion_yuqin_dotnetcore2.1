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306" r:id="rId3"/>
    <p:sldId id="312" r:id="rId4"/>
    <p:sldId id="307" r:id="rId5"/>
    <p:sldId id="260" r:id="rId6"/>
    <p:sldId id="309" r:id="rId7"/>
    <p:sldId id="310" r:id="rId8"/>
    <p:sldId id="311" r:id="rId9"/>
    <p:sldId id="315" r:id="rId10"/>
    <p:sldId id="316" r:id="rId11"/>
    <p:sldId id="317" r:id="rId12"/>
    <p:sldId id="313" r:id="rId13"/>
    <p:sldId id="303" r:id="rId14"/>
    <p:sldId id="305" r:id="rId15"/>
    <p:sldId id="314" r:id="rId16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6">
          <p15:clr>
            <a:srgbClr val="A4A3A4"/>
          </p15:clr>
        </p15:guide>
        <p15:guide id="2" orient="horz" pos="1777">
          <p15:clr>
            <a:srgbClr val="A4A3A4"/>
          </p15:clr>
        </p15:guide>
        <p15:guide id="3" pos="311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495E"/>
    <a:srgbClr val="232323"/>
    <a:srgbClr val="FAFAFA"/>
    <a:srgbClr val="DCE3E8"/>
    <a:srgbClr val="D9E2EB"/>
    <a:srgbClr val="848484"/>
    <a:srgbClr val="9B9B9B"/>
    <a:srgbClr val="F0F0F0"/>
    <a:srgbClr val="F6F4F7"/>
    <a:srgbClr val="192A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4" d="100"/>
          <a:sy n="94" d="100"/>
        </p:scale>
        <p:origin x="464" y="68"/>
      </p:cViewPr>
      <p:guideLst>
        <p:guide orient="horz" pos="2186"/>
        <p:guide orient="horz" pos="1777"/>
        <p:guide pos="311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-3888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117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766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0</a:t>
            </a:r>
            <a:r>
              <a:rPr lang="zh-CN" altLang="en-US" dirty="0" smtClean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084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2</a:t>
            </a:r>
            <a:r>
              <a:rPr lang="zh-CN" altLang="en-US" dirty="0" smtClean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007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5</a:t>
            </a:r>
            <a:r>
              <a:rPr lang="zh-CN" altLang="en-US" dirty="0" smtClean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706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464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75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054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063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15</a:t>
            </a:r>
            <a:r>
              <a:rPr lang="zh-CN" altLang="en-US" dirty="0" smtClean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073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30</a:t>
            </a:r>
            <a:r>
              <a:rPr lang="zh-CN" altLang="en-US" dirty="0" smtClean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6128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024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565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7736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687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577228" y="1023443"/>
            <a:ext cx="468000" cy="28800"/>
          </a:xfrm>
          <a:prstGeom prst="rect">
            <a:avLst/>
          </a:prstGeom>
          <a:solidFill>
            <a:srgbClr val="33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33495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0" y="1333829"/>
            <a:ext cx="3655181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0" y="1999034"/>
            <a:ext cx="3655181" cy="2643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829"/>
            <a:ext cx="3673182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034"/>
            <a:ext cx="3673182" cy="2643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3124012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01"/>
            <a:ext cx="4629150" cy="40528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3124012" cy="2858691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44"/>
            <a:ext cx="7886700" cy="43588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png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629478" y="1354439"/>
            <a:ext cx="7885044" cy="1384966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zh-CN" altLang="en-US" sz="3400" dirty="0">
                <a:solidFill>
                  <a:srgbClr val="33495E"/>
                </a:solidFill>
                <a:latin typeface="+mn-ea"/>
              </a:rPr>
              <a:t>教育软件概述：通用编程语言的四个平台</a:t>
            </a:r>
            <a:r>
              <a:rPr lang="zh-CN" altLang="en-US" sz="3400" dirty="0" smtClean="0">
                <a:solidFill>
                  <a:srgbClr val="33495E"/>
                </a:solidFill>
                <a:latin typeface="+mn-ea"/>
              </a:rPr>
              <a:t>层次</a:t>
            </a:r>
            <a:endParaRPr lang="en-US" altLang="zh-CN" sz="3400" dirty="0" smtClean="0">
              <a:solidFill>
                <a:srgbClr val="33495E"/>
              </a:solidFill>
              <a:latin typeface="+mn-ea"/>
            </a:endParaRPr>
          </a:p>
          <a:p>
            <a:pPr algn="ctr"/>
            <a:r>
              <a:rPr lang="en-US" altLang="zh-CN" sz="1600" dirty="0" smtClean="0">
                <a:solidFill>
                  <a:srgbClr val="33495E"/>
                </a:solidFill>
                <a:latin typeface="+mn-ea"/>
              </a:rPr>
              <a:t>——【0/1</a:t>
            </a:r>
            <a:r>
              <a:rPr lang="zh-CN" altLang="en-US" sz="1600" dirty="0" smtClean="0">
                <a:solidFill>
                  <a:srgbClr val="33495E"/>
                </a:solidFill>
                <a:latin typeface="+mn-ea"/>
              </a:rPr>
              <a:t>、</a:t>
            </a:r>
            <a:r>
              <a:rPr lang="en-US" altLang="zh-CN" sz="1600" dirty="0" smtClean="0">
                <a:solidFill>
                  <a:srgbClr val="33495E"/>
                </a:solidFill>
                <a:latin typeface="+mn-ea"/>
              </a:rPr>
              <a:t>C--(ASM)</a:t>
            </a:r>
            <a:r>
              <a:rPr lang="zh-CN" altLang="en-US" sz="1600" dirty="0" smtClean="0">
                <a:solidFill>
                  <a:srgbClr val="33495E"/>
                </a:solidFill>
                <a:latin typeface="+mn-ea"/>
              </a:rPr>
              <a:t>、</a:t>
            </a:r>
            <a:r>
              <a:rPr lang="en-US" altLang="zh-CN" sz="1600" dirty="0" smtClean="0">
                <a:solidFill>
                  <a:srgbClr val="33495E"/>
                </a:solidFill>
                <a:latin typeface="+mn-ea"/>
              </a:rPr>
              <a:t>C/C</a:t>
            </a:r>
            <a:r>
              <a:rPr lang="en-US" altLang="zh-CN" sz="1600" dirty="0">
                <a:solidFill>
                  <a:srgbClr val="33495E"/>
                </a:solidFill>
                <a:latin typeface="+mn-ea"/>
              </a:rPr>
              <a:t>++</a:t>
            </a:r>
            <a:r>
              <a:rPr lang="zh-CN" altLang="en-US" sz="1600" dirty="0">
                <a:solidFill>
                  <a:srgbClr val="33495E"/>
                </a:solidFill>
                <a:latin typeface="+mn-ea"/>
              </a:rPr>
              <a:t>、</a:t>
            </a:r>
            <a:r>
              <a:rPr lang="en-US" altLang="zh-CN" sz="1600" dirty="0">
                <a:solidFill>
                  <a:srgbClr val="33495E"/>
                </a:solidFill>
                <a:latin typeface="+mn-ea"/>
              </a:rPr>
              <a:t>C++++(C</a:t>
            </a:r>
            <a:r>
              <a:rPr lang="en-US" altLang="zh-CN" sz="1600" dirty="0" smtClean="0">
                <a:solidFill>
                  <a:srgbClr val="33495E"/>
                </a:solidFill>
                <a:latin typeface="+mn-ea"/>
              </a:rPr>
              <a:t>#)】</a:t>
            </a:r>
            <a:endParaRPr lang="zh-CN" altLang="en-US" sz="1600" dirty="0">
              <a:solidFill>
                <a:srgbClr val="33495E"/>
              </a:solidFill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l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C:\Users\1\Documents\WeChat Files\wxid_ua0wgxfr986w52\FileStorage\Fav\Temp\8946c324\res\4d25ba3ecc0d901fcbc889184a55e25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242788"/>
            <a:ext cx="8674099" cy="4368800"/>
          </a:xfrm>
          <a:prstGeom prst="rect">
            <a:avLst/>
          </a:prstGeom>
          <a:noFill/>
          <a:ln w="9525">
            <a:solidFill>
              <a:srgbClr val="5B9BD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5689951" y="4611588"/>
            <a:ext cx="30572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思政要素：学习兴趣、国家情怀</a:t>
            </a: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44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l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80032" y="631513"/>
            <a:ext cx="5046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通用编程语言的四个平台层次的本质、科学原理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032" y="1271398"/>
            <a:ext cx="3960218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</a:pPr>
            <a:r>
              <a:rPr lang="zh-CN" altLang="en-US" sz="22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计算思维的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本质框架：“计算开始、计算中途、计算结束”中的“客户端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MVC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、互动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MVC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、服务端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MVC”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的实现可以选用的“软件第二平台语言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日常词汇对象平台语言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、软件第一平台语言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专业词汇对象平台语言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、硬件第二平台语言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人体的数据读写平台语言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、硬件第一平台语言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人脑的字符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计算思维的本质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】”</a:t>
            </a:r>
            <a:endParaRPr lang="en-US" sz="2000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triped Right Arrow 3"/>
          <p:cNvSpPr/>
          <p:nvPr/>
        </p:nvSpPr>
        <p:spPr>
          <a:xfrm>
            <a:off x="4692650" y="2857500"/>
            <a:ext cx="933450" cy="38735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045200" y="135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864544"/>
              </p:ext>
            </p:extLst>
          </p:nvPr>
        </p:nvGraphicFramePr>
        <p:xfrm>
          <a:off x="5692775" y="749435"/>
          <a:ext cx="2441520" cy="3979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name="Picture" r:id="rId4" imgW="2441520" imgH="3979440" progId="Word.Picture.8">
                  <p:embed/>
                </p:oleObj>
              </mc:Choice>
              <mc:Fallback>
                <p:oleObj name="Picture" r:id="rId4" imgW="2441520" imgH="397944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2775" y="749435"/>
                        <a:ext cx="2441520" cy="397944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849" y="730133"/>
            <a:ext cx="2381372" cy="396895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470400" y="4594288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思政要素：正确认识问题、分析问题、</a:t>
            </a:r>
            <a:r>
              <a:rPr lang="zh-CN" altLang="en-US" kern="100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解决问题）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6878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470991" y="396563"/>
            <a:ext cx="8005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zh-CN" altLang="en-US" sz="32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计算机语言的</a:t>
            </a:r>
            <a:r>
              <a:rPr lang="zh-CN" altLang="en-US" sz="3200" b="1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本质、科学原理：</a:t>
            </a:r>
            <a:endParaRPr lang="en-US" altLang="zh-CN" sz="3200" b="1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70991" y="1480948"/>
            <a:ext cx="8223250" cy="2721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本质是“计算机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平台的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的语言”隐喻“人脑平台的字符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非字符的语言”。</a:t>
            </a:r>
            <a:endParaRPr lang="en-US" altLang="zh-CN" sz="2300" dirty="0" smtClean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en-US" altLang="zh-CN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学术领域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认为计算机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语言包含“</a:t>
            </a:r>
            <a:r>
              <a:rPr lang="en-US" altLang="zh-CN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C-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-(ASM)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C++++(C#)”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四个平台层次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学术领域认为数据语言可以认为是：计算机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平台的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的语言→人脑平台的字符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非字符的语言→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C--(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→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C++++(C#)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这些通用语言→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这些面向数据的语言</a:t>
            </a:r>
            <a:endParaRPr lang="zh-CN" altLang="en-US" sz="2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633494" y="4394039"/>
            <a:ext cx="30572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思政要素：学思结合、实事求是</a:t>
            </a: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0470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899740" y="3744966"/>
            <a:ext cx="880668" cy="769214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10"/>
          <p:cNvSpPr txBox="1"/>
          <p:nvPr/>
        </p:nvSpPr>
        <p:spPr>
          <a:xfrm>
            <a:off x="470991" y="396563"/>
            <a:ext cx="8005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en-US" altLang="zh-CN" sz="32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C--(</a:t>
            </a:r>
            <a:r>
              <a:rPr lang="zh-CN" altLang="en-US" sz="32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</a:t>
            </a:r>
            <a:r>
              <a:rPr lang="en-US" altLang="zh-CN" sz="32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32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语言：</a:t>
            </a:r>
            <a:endParaRPr lang="en-US" altLang="zh-CN" sz="3200" b="1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1111250"/>
            <a:ext cx="8045450" cy="3625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899740" y="3744966"/>
            <a:ext cx="880668" cy="769214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10"/>
          <p:cNvSpPr txBox="1"/>
          <p:nvPr/>
        </p:nvSpPr>
        <p:spPr>
          <a:xfrm>
            <a:off x="470991" y="396563"/>
            <a:ext cx="8005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en-US" altLang="zh-CN" sz="32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32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语言：</a:t>
            </a:r>
            <a:endParaRPr lang="en-US" altLang="zh-CN" sz="3200" b="1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140" y="1110590"/>
            <a:ext cx="7626350" cy="363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360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899740" y="3744966"/>
            <a:ext cx="880668" cy="769214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10"/>
          <p:cNvSpPr txBox="1"/>
          <p:nvPr/>
        </p:nvSpPr>
        <p:spPr>
          <a:xfrm>
            <a:off x="470991" y="396563"/>
            <a:ext cx="8005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en-US" altLang="zh-CN" sz="32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32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语言：</a:t>
            </a:r>
            <a:endParaRPr lang="en-US" altLang="zh-CN" sz="3200" b="1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20" y="1128113"/>
            <a:ext cx="7358510" cy="356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7776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899740" y="3744966"/>
            <a:ext cx="880668" cy="769214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10"/>
          <p:cNvSpPr txBox="1"/>
          <p:nvPr/>
        </p:nvSpPr>
        <p:spPr>
          <a:xfrm>
            <a:off x="470991" y="396563"/>
            <a:ext cx="8005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en-US" altLang="zh-CN" sz="32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C++++(C#)</a:t>
            </a:r>
            <a:r>
              <a:rPr lang="zh-CN" altLang="en-US" sz="32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语言：</a:t>
            </a:r>
            <a:endParaRPr lang="en-US" altLang="zh-CN" sz="3200" b="1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1138634"/>
            <a:ext cx="7537450" cy="359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2572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899740" y="3744966"/>
            <a:ext cx="880668" cy="769214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10"/>
          <p:cNvSpPr txBox="1"/>
          <p:nvPr/>
        </p:nvSpPr>
        <p:spPr>
          <a:xfrm>
            <a:off x="470991" y="396563"/>
            <a:ext cx="8005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zh-CN" altLang="en-US" sz="2400" b="1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通用编程语言在教育软件开发中的应用：</a:t>
            </a:r>
            <a:endParaRPr lang="en-US" altLang="zh-CN" sz="2400" b="1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327150" y="1073150"/>
            <a:ext cx="7099299" cy="344103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002047" y="4575213"/>
            <a:ext cx="48526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大国工匠、精益求精、工程伦理、科技报国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kern="1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9522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899740" y="3744966"/>
            <a:ext cx="880668" cy="769214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10"/>
          <p:cNvSpPr txBox="1"/>
          <p:nvPr/>
        </p:nvSpPr>
        <p:spPr>
          <a:xfrm>
            <a:off x="477341" y="396563"/>
            <a:ext cx="8005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zh-CN" altLang="en-US" sz="2400" b="1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通用编程语言在教育软件开发中的应用：</a:t>
            </a:r>
            <a:endParaRPr lang="en-US" altLang="zh-CN" sz="2400" b="1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1018195" y="1054100"/>
            <a:ext cx="6923459" cy="346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5959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899740" y="3744966"/>
            <a:ext cx="880668" cy="769214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10"/>
          <p:cNvSpPr txBox="1"/>
          <p:nvPr/>
        </p:nvSpPr>
        <p:spPr>
          <a:xfrm>
            <a:off x="477341" y="396563"/>
            <a:ext cx="8005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zh-CN" altLang="en-US" sz="2400" b="1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通用编程语言的自然与人文的统一：</a:t>
            </a:r>
            <a:endParaRPr lang="en-US" altLang="zh-CN" sz="2400" b="1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4" descr="艾伦·麦席森·图灵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550" y="914400"/>
            <a:ext cx="6038849" cy="346074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5525544" y="4431321"/>
            <a:ext cx="30572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思政要素：国家情怀、文化自信</a:t>
            </a:r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4456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16078" t="8528" r="14488" b="16904"/>
          <a:stretch/>
        </p:blipFill>
        <p:spPr>
          <a:xfrm rot="20538853">
            <a:off x="530689" y="2458929"/>
            <a:ext cx="2495550" cy="2006600"/>
          </a:xfrm>
          <a:prstGeom prst="rect">
            <a:avLst/>
          </a:prstGeom>
        </p:spPr>
      </p:pic>
      <p:pic>
        <p:nvPicPr>
          <p:cNvPr id="1026" name="Picture 2" descr="大脑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5433">
            <a:off x="6559549" y="2468561"/>
            <a:ext cx="2095500" cy="209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文本框 10"/>
          <p:cNvSpPr txBox="1"/>
          <p:nvPr/>
        </p:nvSpPr>
        <p:spPr>
          <a:xfrm>
            <a:off x="580032" y="631513"/>
            <a:ext cx="3674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思辨计算机语言的优缺点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860550" y="903098"/>
            <a:ext cx="4787900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</a:pPr>
            <a:r>
              <a:rPr lang="zh-CN" altLang="en-US" sz="28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业界认为，</a:t>
            </a:r>
            <a:r>
              <a:rPr lang="zh-CN" altLang="en-US" sz="26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计算机语言最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能隐喻</a:t>
            </a:r>
            <a:r>
              <a:rPr lang="zh-CN" altLang="en-US" sz="26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人脑语言，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但也必须注意到人机隐喻的一些缺陷，例如，计算机是“</a:t>
            </a:r>
            <a:r>
              <a:rPr lang="en-US" altLang="zh-CN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语言”的二进制电路组成的物性的机器，人是“字符</a:t>
            </a:r>
            <a:r>
              <a:rPr lang="en-US" altLang="zh-CN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非字符语言”的神经系统组成的人性的生物体，所以，</a:t>
            </a:r>
            <a:r>
              <a:rPr lang="zh-CN" altLang="en-US" sz="26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“计算机编程语言本质”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必须物性与人性统一。</a:t>
            </a:r>
            <a:endParaRPr lang="en-US" sz="2600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93794" y="459528"/>
            <a:ext cx="30572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思政要素：辩证思辨、</a:t>
            </a:r>
            <a:r>
              <a:rPr lang="zh-CN" altLang="en-US" kern="100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自主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优化</a:t>
            </a:r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040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80032" y="631513"/>
            <a:ext cx="313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测验、小结、讲后思考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438813D7-676E-4BB1-8BD1-AA790C109740}"/>
              </a:ext>
            </a:extLst>
          </p:cNvPr>
          <p:cNvSpPr txBox="1"/>
          <p:nvPr/>
        </p:nvSpPr>
        <p:spPr>
          <a:xfrm>
            <a:off x="4927600" y="4551431"/>
            <a:ext cx="3829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（思政要素：学</a:t>
            </a:r>
            <a:r>
              <a:rPr lang="zh-CN" altLang="en-US" dirty="0"/>
              <a:t>思结合、知行统一、实事求是）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3400" y="1087248"/>
            <a:ext cx="8223250" cy="32675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zh-CN" altLang="en-US" sz="35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关于计算机语言的说法错误的是：</a:t>
            </a:r>
            <a:endParaRPr lang="en-US" altLang="zh-CN" sz="3500" b="1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本质是“计算机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平台的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的语言”隐喻“人脑平台的字符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非字符的语言”。</a:t>
            </a:r>
            <a:endParaRPr lang="en-US" altLang="zh-CN" sz="2300" dirty="0" smtClean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．与人类语言基本无关。</a:t>
            </a:r>
            <a:endParaRPr lang="zh-CN" altLang="en-US" sz="2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．计算机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语言代码保存成为文件，然后可在</a:t>
            </a:r>
            <a:r>
              <a:rPr lang="en-US" altLang="zh-CN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中运行。</a:t>
            </a:r>
            <a:endParaRPr lang="en-US" altLang="zh-CN" sz="2300" dirty="0" smtClean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．学术领域认为计算机语言包含“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C--(ASM)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C++++(C#)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”四个平台层次。</a:t>
            </a:r>
            <a:endParaRPr lang="zh-CN" altLang="en-US" sz="2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47091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435781" y="1245349"/>
            <a:ext cx="4272439" cy="117724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defRPr/>
            </a:pPr>
            <a:r>
              <a:rPr lang="en-US" altLang="zh-CN" sz="72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THANKS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058406" y="2720907"/>
            <a:ext cx="2810563" cy="56169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defRPr/>
            </a:pPr>
            <a:r>
              <a:rPr lang="zh-CN" altLang="en-US" sz="32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1427546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488018"/>
              </p:ext>
            </p:extLst>
          </p:nvPr>
        </p:nvGraphicFramePr>
        <p:xfrm>
          <a:off x="3093692" y="559873"/>
          <a:ext cx="2441520" cy="3979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Picture" r:id="rId3" imgW="2441520" imgH="3979440" progId="Word.Picture.8">
                  <p:embed/>
                </p:oleObj>
              </mc:Choice>
              <mc:Fallback>
                <p:oleObj name="Picture" r:id="rId3" imgW="2441520" imgH="397944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3692" y="559873"/>
                        <a:ext cx="2441520" cy="397944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908050" y="559873"/>
            <a:ext cx="1873250" cy="1022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注：前述幻灯片中，显示出错，只好转换成为图片使用了，但不便于维护。在此保留以便维护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33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Qzus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</TotalTime>
  <Words>488</Words>
  <Application>Microsoft Office PowerPoint</Application>
  <PresentationFormat>On-screen Show (16:9)</PresentationFormat>
  <Paragraphs>51</Paragraphs>
  <Slides>15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黑体</vt:lpstr>
      <vt:lpstr>宋体</vt:lpstr>
      <vt:lpstr>微软雅黑</vt:lpstr>
      <vt:lpstr>Arial</vt:lpstr>
      <vt:lpstr>Calibri</vt:lpstr>
      <vt:lpstr>Times New Roman</vt:lpstr>
      <vt:lpstr>Wingdings</vt:lpstr>
      <vt:lpstr>Qzuser</vt:lpstr>
      <vt:lpstr>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qzuser;</dc:title>
  <dc:creator>qzuser</dc:creator>
  <cp:keywords>qzuser</cp:keywords>
  <dc:description>qzuser</dc:description>
  <cp:lastModifiedBy>Microsoft account</cp:lastModifiedBy>
  <cp:revision>196</cp:revision>
  <dcterms:created xsi:type="dcterms:W3CDTF">2016-05-20T12:59:00Z</dcterms:created>
  <dcterms:modified xsi:type="dcterms:W3CDTF">2023-03-11T02:02:25Z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