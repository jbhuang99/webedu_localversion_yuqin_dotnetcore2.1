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306" r:id="rId3"/>
    <p:sldId id="312" r:id="rId4"/>
    <p:sldId id="307" r:id="rId5"/>
    <p:sldId id="260" r:id="rId6"/>
    <p:sldId id="309" r:id="rId7"/>
    <p:sldId id="310" r:id="rId8"/>
    <p:sldId id="311" r:id="rId9"/>
    <p:sldId id="313" r:id="rId10"/>
    <p:sldId id="303" r:id="rId11"/>
    <p:sldId id="305" r:id="rId12"/>
    <p:sldId id="314" r:id="rId13"/>
  </p:sldIdLst>
  <p:sldSz cx="9144000" cy="5143500" type="screen16x9"/>
  <p:notesSz cx="6858000" cy="9144000"/>
  <p:defaultTextStyle>
    <a:defPPr>
      <a:defRPr lang="zh-CN"/>
    </a:defPPr>
    <a:lvl1pPr marL="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6">
          <p15:clr>
            <a:srgbClr val="A4A3A4"/>
          </p15:clr>
        </p15:guide>
        <p15:guide id="2" orient="horz" pos="1777">
          <p15:clr>
            <a:srgbClr val="A4A3A4"/>
          </p15:clr>
        </p15:guide>
        <p15:guide id="3" pos="31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495E"/>
    <a:srgbClr val="232323"/>
    <a:srgbClr val="FAFAFA"/>
    <a:srgbClr val="DCE3E8"/>
    <a:srgbClr val="D9E2EB"/>
    <a:srgbClr val="848484"/>
    <a:srgbClr val="9B9B9B"/>
    <a:srgbClr val="F0F0F0"/>
    <a:srgbClr val="F6F4F7"/>
    <a:srgbClr val="192A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284" y="56"/>
      </p:cViewPr>
      <p:guideLst>
        <p:guide orient="horz" pos="2186"/>
        <p:guide orient="horz" pos="1777"/>
        <p:guide pos="311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-3888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3117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766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8084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6007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6706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464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758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8054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90634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9565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17736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46875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40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577228" y="1023443"/>
            <a:ext cx="468000" cy="28800"/>
          </a:xfrm>
          <a:prstGeom prst="rect">
            <a:avLst/>
          </a:prstGeom>
          <a:solidFill>
            <a:srgbClr val="334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33495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0" y="1333829"/>
            <a:ext cx="3655181" cy="617934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  <a:lvl6pPr marL="1714500" indent="0">
              <a:buNone/>
              <a:defRPr sz="1400"/>
            </a:lvl6pPr>
            <a:lvl7pPr marL="2057400" indent="0">
              <a:buNone/>
              <a:defRPr sz="1400"/>
            </a:lvl7pPr>
            <a:lvl8pPr marL="2400300" indent="0">
              <a:buNone/>
              <a:defRPr sz="1400"/>
            </a:lvl8pPr>
            <a:lvl9pPr marL="27432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0" y="1999034"/>
            <a:ext cx="3655181" cy="26432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333829"/>
            <a:ext cx="3673182" cy="617934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  <a:lvl6pPr marL="1714500" indent="0">
              <a:buNone/>
              <a:defRPr sz="1400"/>
            </a:lvl6pPr>
            <a:lvl7pPr marL="2057400" indent="0">
              <a:buNone/>
              <a:defRPr sz="1400"/>
            </a:lvl7pPr>
            <a:lvl8pPr marL="2400300" indent="0">
              <a:buNone/>
              <a:defRPr sz="1400"/>
            </a:lvl8pPr>
            <a:lvl9pPr marL="27432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1999034"/>
            <a:ext cx="3673182" cy="26432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3124012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342901"/>
            <a:ext cx="4629150" cy="4052888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3124012" cy="2858691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400"/>
            </a:lvl2pPr>
            <a:lvl3pPr marL="685800" indent="0">
              <a:buNone/>
              <a:defRPr sz="1200"/>
            </a:lvl3pPr>
            <a:lvl4pPr marL="1028700" indent="0">
              <a:buNone/>
              <a:defRPr sz="1100"/>
            </a:lvl4pPr>
            <a:lvl5pPr marL="1371600" indent="0">
              <a:buNone/>
              <a:defRPr sz="1100"/>
            </a:lvl5pPr>
            <a:lvl6pPr marL="1714500" indent="0">
              <a:buNone/>
              <a:defRPr sz="1100"/>
            </a:lvl6pPr>
            <a:lvl7pPr marL="2057400" indent="0">
              <a:buNone/>
              <a:defRPr sz="1100"/>
            </a:lvl7pPr>
            <a:lvl8pPr marL="2400300" indent="0">
              <a:buNone/>
              <a:defRPr sz="1100"/>
            </a:lvl8pPr>
            <a:lvl9pPr marL="274320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628650" y="273844"/>
            <a:ext cx="7886700" cy="43588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288E0-7875-42C4-84C8-98DBBD3BF4D2}" type="datetimeFigureOut">
              <a:rPr lang="zh-CN" altLang="en-US" smtClean="0"/>
              <a:t>2023/3/9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4.png"/><Relationship Id="rId5" Type="http://schemas.openxmlformats.org/officeDocument/2006/relationships/image" Target="../media/image3.w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/>
          <p:cNvSpPr txBox="1"/>
          <p:nvPr/>
        </p:nvSpPr>
        <p:spPr>
          <a:xfrm>
            <a:off x="629478" y="1354439"/>
            <a:ext cx="7885044" cy="1384966"/>
          </a:xfrm>
          <a:prstGeom prst="rect">
            <a:avLst/>
          </a:prstGeom>
          <a:noFill/>
        </p:spPr>
        <p:txBody>
          <a:bodyPr wrap="square" lIns="91413" tIns="45706" rIns="91413" bIns="45706" rtlCol="0">
            <a:spAutoFit/>
          </a:bodyPr>
          <a:lstStyle/>
          <a:p>
            <a:pPr algn="ctr"/>
            <a:r>
              <a:rPr lang="zh-CN" altLang="en-US" sz="3400" dirty="0">
                <a:solidFill>
                  <a:srgbClr val="33495E"/>
                </a:solidFill>
                <a:latin typeface="+mn-ea"/>
              </a:rPr>
              <a:t>教育软件概述：通用编程语言的四个平台</a:t>
            </a:r>
            <a:r>
              <a:rPr lang="zh-CN" altLang="en-US" sz="3400" dirty="0" smtClean="0">
                <a:solidFill>
                  <a:srgbClr val="33495E"/>
                </a:solidFill>
                <a:latin typeface="+mn-ea"/>
              </a:rPr>
              <a:t>层次</a:t>
            </a:r>
            <a:endParaRPr lang="en-US" altLang="zh-CN" sz="3400" dirty="0" smtClean="0">
              <a:solidFill>
                <a:srgbClr val="33495E"/>
              </a:solidFill>
              <a:latin typeface="+mn-ea"/>
            </a:endParaRPr>
          </a:p>
          <a:p>
            <a:pPr algn="ctr"/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——【0/1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、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C--(ASM)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、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C/C</a:t>
            </a:r>
            <a:r>
              <a:rPr lang="en-US" altLang="zh-CN" sz="1600" dirty="0">
                <a:solidFill>
                  <a:srgbClr val="33495E"/>
                </a:solidFill>
                <a:latin typeface="+mn-ea"/>
              </a:rPr>
              <a:t>++</a:t>
            </a:r>
            <a:r>
              <a:rPr lang="zh-CN" altLang="en-US" sz="1600" dirty="0">
                <a:solidFill>
                  <a:srgbClr val="33495E"/>
                </a:solidFill>
                <a:latin typeface="+mn-ea"/>
              </a:rPr>
              <a:t>、</a:t>
            </a:r>
            <a:r>
              <a:rPr lang="en-US" altLang="zh-CN" sz="1600" dirty="0">
                <a:solidFill>
                  <a:srgbClr val="33495E"/>
                </a:solidFill>
                <a:latin typeface="+mn-ea"/>
              </a:rPr>
              <a:t>C++++(C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#)】</a:t>
            </a:r>
            <a:endParaRPr lang="zh-CN" altLang="en-US" sz="1600" dirty="0">
              <a:solidFill>
                <a:srgbClr val="33495E"/>
              </a:solidFill>
              <a:latin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ipple dir="l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0" descr="C:\Users\1\Documents\WeChat Files\wxid_ua0wgxfr986w52\FileStorage\Fav\Temp\8946c324\res\4d25ba3ecc0d901fcbc889184a55e253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00" y="222250"/>
            <a:ext cx="8674099" cy="4629924"/>
          </a:xfrm>
          <a:prstGeom prst="rect">
            <a:avLst/>
          </a:prstGeom>
          <a:noFill/>
          <a:ln w="9525">
            <a:solidFill>
              <a:srgbClr val="5B9BD5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49448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ipple dir="l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80032" y="631513"/>
            <a:ext cx="5046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通用编程语言的四个平台层次的本质、科学原理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032" y="1271398"/>
            <a:ext cx="3960218" cy="3508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</a:pPr>
            <a:r>
              <a:rPr lang="zh-CN" altLang="en-US" sz="2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计算思维的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本质框架：“计算开始、计算中途、计算结束”中的“客户端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、互动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、服务端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MVC”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的实现可以选用的“软件第二平台语言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日常词汇对象平台语言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、软件第一平台语言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专业词汇对象平台语言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、硬件第二平台语言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人体的数据读写平台语言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、硬件第一平台语言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人脑的字符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计算思维的本质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】”</a:t>
            </a:r>
            <a:endParaRPr lang="en-US" sz="20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Striped Right Arrow 3"/>
          <p:cNvSpPr/>
          <p:nvPr/>
        </p:nvSpPr>
        <p:spPr>
          <a:xfrm>
            <a:off x="4692650" y="2857500"/>
            <a:ext cx="933450" cy="387350"/>
          </a:xfrm>
          <a:prstGeom prst="strip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6045200" y="13589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7864544"/>
              </p:ext>
            </p:extLst>
          </p:nvPr>
        </p:nvGraphicFramePr>
        <p:xfrm>
          <a:off x="5692775" y="749435"/>
          <a:ext cx="2441520" cy="3979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8" name="Picture" r:id="rId4" imgW="2441520" imgH="3979440" progId="Word.Picture.8">
                  <p:embed/>
                </p:oleObj>
              </mc:Choice>
              <mc:Fallback>
                <p:oleObj name="Picture" r:id="rId4" imgW="2441520" imgH="3979440" progId="Word.Pictur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92775" y="749435"/>
                        <a:ext cx="2441520" cy="3979440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849" y="742833"/>
            <a:ext cx="2381372" cy="3968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6878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计算机语言的</a:t>
            </a:r>
            <a:r>
              <a:rPr lang="zh-CN" altLang="en-US" sz="3200" b="1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本质、科学原理：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70991" y="1480948"/>
            <a:ext cx="8223250" cy="2721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本质是“计算机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的语言”隐喻“人脑平台的字符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非字符的语言”。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学术领域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认为计算机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语言包含“</a:t>
            </a: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-(ASM)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C++++(C#)”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四个平台层次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学术领域认为数据语言可以认为是：计算机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的语言→人脑平台的字符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非字符的语言→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C--(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汇编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这些通用语言→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SQL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这些面向数据的语言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500470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C--(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汇编</a:t>
            </a: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1111250"/>
            <a:ext cx="8045450" cy="3625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40" y="1110590"/>
            <a:ext cx="7626350" cy="3632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60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20" y="1128113"/>
            <a:ext cx="7358510" cy="356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77769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1138634"/>
            <a:ext cx="7537450" cy="359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2572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16078" t="8528" r="14488" b="16904"/>
          <a:stretch/>
        </p:blipFill>
        <p:spPr>
          <a:xfrm rot="20538853">
            <a:off x="530689" y="2458929"/>
            <a:ext cx="2495550" cy="2006600"/>
          </a:xfrm>
          <a:prstGeom prst="rect">
            <a:avLst/>
          </a:prstGeom>
        </p:spPr>
      </p:pic>
      <p:pic>
        <p:nvPicPr>
          <p:cNvPr id="1026" name="Picture 2" descr="大脑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5433">
            <a:off x="6559549" y="2468561"/>
            <a:ext cx="2095500" cy="2095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文本框 10"/>
          <p:cNvSpPr txBox="1"/>
          <p:nvPr/>
        </p:nvSpPr>
        <p:spPr>
          <a:xfrm>
            <a:off x="580032" y="631513"/>
            <a:ext cx="3674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思辨计算机语言的优缺点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1860550" y="903098"/>
            <a:ext cx="4787900" cy="372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</a:pPr>
            <a:r>
              <a:rPr lang="zh-CN" altLang="en-US" sz="28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业界认为，</a:t>
            </a:r>
            <a:r>
              <a:rPr lang="zh-CN" altLang="en-US" sz="26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计算机语言最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能隐喻</a:t>
            </a:r>
            <a:r>
              <a:rPr lang="zh-CN" altLang="en-US" sz="26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人脑语言，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但也必须注意到人机隐喻的一些缺陷，例如，计算机是“</a:t>
            </a:r>
            <a:r>
              <a:rPr lang="en-US" altLang="zh-CN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语言”的二进制电路组成的物性的机器，人是“字符</a:t>
            </a:r>
            <a:r>
              <a:rPr lang="en-US" altLang="zh-CN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非字符语言”的神经系统组成的人性的生物体，所以，</a:t>
            </a:r>
            <a:r>
              <a:rPr lang="zh-CN" altLang="en-US" sz="26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“计算机编程语言本质”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必须物性与人性统一。</a:t>
            </a:r>
            <a:endParaRPr lang="en-US" sz="26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980401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80032" y="631513"/>
            <a:ext cx="3134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测验、小结、讲后思考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xmlns="" id="{438813D7-676E-4BB1-8BD1-AA790C109740}"/>
              </a:ext>
            </a:extLst>
          </p:cNvPr>
          <p:cNvSpPr txBox="1"/>
          <p:nvPr/>
        </p:nvSpPr>
        <p:spPr>
          <a:xfrm>
            <a:off x="5745862" y="4551431"/>
            <a:ext cx="30107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（学思结合、知行统一、实事求是）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3400" y="1087248"/>
            <a:ext cx="8223250" cy="32675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35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关于计算机语言的说法错误的是：</a:t>
            </a:r>
            <a:endParaRPr lang="en-US" altLang="zh-CN" sz="35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本质是“计算机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的语言”隐喻“人脑平台的字符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非字符的语言”。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．与人类语言基本无关。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．计算机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语言代码保存成为文件，然后可在</a:t>
            </a: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中运行。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．学术领域认为计算机语言包含“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C--(ASM)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”四个平台层次。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5470914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2435781" y="1245349"/>
            <a:ext cx="4272439" cy="1177245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en-US" altLang="zh-CN" sz="72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THANKS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058406" y="2720907"/>
            <a:ext cx="2810563" cy="561692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zh-CN" altLang="en-US" sz="32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敬请批评指正</a:t>
            </a:r>
          </a:p>
        </p:txBody>
      </p:sp>
    </p:spTree>
    <p:extLst>
      <p:ext uri="{BB962C8B-B14F-4D97-AF65-F5344CB8AC3E}">
        <p14:creationId xmlns:p14="http://schemas.microsoft.com/office/powerpoint/2010/main" val="142754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5488018"/>
              </p:ext>
            </p:extLst>
          </p:nvPr>
        </p:nvGraphicFramePr>
        <p:xfrm>
          <a:off x="3093692" y="559873"/>
          <a:ext cx="2441520" cy="3979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0" name="Picture" r:id="rId3" imgW="2441520" imgH="3979440" progId="Word.Picture.8">
                  <p:embed/>
                </p:oleObj>
              </mc:Choice>
              <mc:Fallback>
                <p:oleObj name="Picture" r:id="rId3" imgW="2441520" imgH="3979440" progId="Word.Pictur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3692" y="559873"/>
                        <a:ext cx="2441520" cy="3979440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/>
        </p:nvSpPr>
        <p:spPr>
          <a:xfrm>
            <a:off x="908050" y="559873"/>
            <a:ext cx="1873250" cy="10223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 smtClean="0"/>
              <a:t>注：前述幻灯片中，显示出错，只好转换成为图片使用了，但不便于维护。在此保留以便维护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33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Qzus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</TotalTime>
  <Words>375</Words>
  <Application>Microsoft Office PowerPoint</Application>
  <PresentationFormat>On-screen Show (16:9)</PresentationFormat>
  <Paragraphs>34</Paragraphs>
  <Slides>12</Slides>
  <Notes>11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宋体</vt:lpstr>
      <vt:lpstr>微软雅黑</vt:lpstr>
      <vt:lpstr>Arial</vt:lpstr>
      <vt:lpstr>Calibri</vt:lpstr>
      <vt:lpstr>Wingdings</vt:lpstr>
      <vt:lpstr>Qzuser</vt:lpstr>
      <vt:lpstr>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qzuser;</dc:title>
  <dc:creator>qzuser</dc:creator>
  <cp:keywords>qzuser</cp:keywords>
  <dc:description>qzuser</dc:description>
  <cp:lastModifiedBy>Microsoft account</cp:lastModifiedBy>
  <cp:revision>183</cp:revision>
  <dcterms:created xsi:type="dcterms:W3CDTF">2016-05-20T12:59:00Z</dcterms:created>
  <dcterms:modified xsi:type="dcterms:W3CDTF">2023-03-09T10:51:25Z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2052-10.1.0.7698</vt:lpwstr>
  </property>
</Properties>
</file>