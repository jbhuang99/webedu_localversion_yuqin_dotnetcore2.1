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12" r:id="rId2"/>
    <p:sldId id="314" r:id="rId3"/>
    <p:sldId id="306" r:id="rId4"/>
    <p:sldId id="307" r:id="rId5"/>
    <p:sldId id="308" r:id="rId6"/>
    <p:sldId id="310" r:id="rId7"/>
    <p:sldId id="309" r:id="rId8"/>
    <p:sldId id="303" r:id="rId9"/>
    <p:sldId id="305" r:id="rId10"/>
    <p:sldId id="313" r:id="rId11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464" y="68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131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4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530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980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869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007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566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37</a:t>
            </a:r>
            <a:r>
              <a:rPr lang="zh-CN" altLang="en-US" dirty="0" smtClean="0"/>
              <a:t>分钟</a:t>
            </a:r>
            <a:r>
              <a:rPr lang="en-US" altLang="zh-CN" dirty="0" smtClean="0"/>
              <a:t>~40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1%A8%E4%BB%A5%E7%9C%9F/3287809?fr=aladd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29478" y="1354439"/>
            <a:ext cx="7885044" cy="1138745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400" dirty="0">
                <a:solidFill>
                  <a:srgbClr val="33495E"/>
                </a:solidFill>
                <a:latin typeface="+mn-ea"/>
              </a:rPr>
              <a:t>教育软件与教育技术：计算思维教育、教育计算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</a:rPr>
              <a:t>思维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2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22250"/>
            <a:ext cx="8674099" cy="4311650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67526" y="4533900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思政要素：学习兴趣、国家情怀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1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10182" y="52356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教育计算思维的具体案例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138048"/>
            <a:ext cx="8132168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计算思维教育，即，“计算机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硬件平台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的语言”隐喻“人脑平台的字符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非字符的语言”这一计算思维本质及其扩展，被用作教育的内容。</a:t>
            </a:r>
            <a:endParaRPr lang="en-US" altLang="zh-CN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计算思维，即，“计算机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序列的语言”隐喻“人脑平台的字符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非字符的语言”这一计算思维本质及其扩展，被用作教育的方法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“教育计算思维”是当前数字化计算时代所需的教育思维。研究“教育计算思维”，在教育领域具有现实意义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。可提升</a:t>
            </a: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教育思维的时代性、数字化、计算性，提升全民数字素养与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713"/>
              </a:spcAft>
              <a:buClr>
                <a:srgbClr val="00544A"/>
              </a:buClr>
            </a:pP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88983" y="4441195"/>
            <a:ext cx="2441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100" b="1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思政要素：学思结合、实事求是</a:t>
            </a:r>
            <a:r>
              <a:rPr lang="zh-CN" altLang="en-US" sz="11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7064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教育计算思维的本质、科学原理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3441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面向远古时代的）计算思维本质，即 ：“人脑的字符</a:t>
            </a:r>
            <a:r>
              <a:rPr 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</a:t>
            </a:r>
            <a:r>
              <a:rPr lang="zh-CN" altLang="en-US" sz="27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700" dirty="0" smtClean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（面向图灵数字化计算时代的）计算思维本质，即：“计算机的</a:t>
            </a:r>
            <a:r>
              <a:rPr lang="en-US" altLang="zh-CN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的语言”。</a:t>
            </a:r>
            <a:endParaRPr lang="en-US" altLang="zh-CN" sz="27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（面向当前数字化计算时代的）计算思维的本质，即：“计算机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语言”隐喻“人脑平台的字符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非字符语言”。</a:t>
            </a:r>
            <a:endParaRPr lang="en-US" sz="27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31268" y="4559477"/>
            <a:ext cx="61093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（思政要素：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认识问题、分析问题、解决问题、科学思维、科学伦理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1417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教育计算思维在教育教学中的应用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3960218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的本质框架：“教育开始、教育中途、教育结束”中的“客户端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、互动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、服务端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MVC”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的实现可以选用的“软件第二平台语言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、软件第一平台语言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人体的数据读写平台语言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人脑的字符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计算思维的本质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】”</a:t>
            </a:r>
            <a:endParaRPr lang="en-US" sz="20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triped Right Arrow 3"/>
          <p:cNvSpPr/>
          <p:nvPr/>
        </p:nvSpPr>
        <p:spPr>
          <a:xfrm>
            <a:off x="4692650" y="2857500"/>
            <a:ext cx="933450" cy="3873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45200" y="135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03" y="784225"/>
            <a:ext cx="2381372" cy="39689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思政要素：大国工匠、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精益求精）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530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455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教育计算思维的自然与人文的统一观</a:t>
            </a:r>
            <a:endParaRPr lang="zh-CN" altLang="en-US" sz="1800" dirty="0">
              <a:solidFill>
                <a:srgbClr val="3349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0697"/>
            <a:ext cx="5506541" cy="2460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 rot="21410777">
            <a:off x="606780" y="3479224"/>
            <a:ext cx="828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“计算思维的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6 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个判定标准”：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是概念化，不是程序化；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是根本的技能，不是机械的技能；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是人的思维，不是计算机的思维；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是数学和工程思维的互补与融合，不是纯数学；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是思想，不是人造物；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是面向所有的人面向所有的领域，不是仅面向计算机仅面向定量的领域。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思政要素：国家情怀、文化自信）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7417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549739" y="2288944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610350" y="2344233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教育计算思维的优缺点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0550" y="903098"/>
            <a:ext cx="47879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业界认为，计算机思维最能隐喻人脑思维，但也必须注意到人机隐喻的一些缺陷，例如，计算机是“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非字符语言”的神经系统组成的人性的生物体，所以，“计算思维本质”必须物性与人性统一。</a:t>
            </a:r>
            <a:endParaRPr lang="en-US" sz="26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：辩证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思辨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、自主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优化）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71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38813D7-676E-4BB1-8BD1-AA790C109740}"/>
              </a:ext>
            </a:extLst>
          </p:cNvPr>
          <p:cNvSpPr txBox="1"/>
          <p:nvPr/>
        </p:nvSpPr>
        <p:spPr>
          <a:xfrm>
            <a:off x="4787900" y="4346419"/>
            <a:ext cx="3810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（思政要素：学</a:t>
            </a:r>
            <a:r>
              <a:rPr lang="zh-CN" altLang="en-US" dirty="0"/>
              <a:t>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2652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关于教育计算思维的说法，错误的是（）：</a:t>
            </a: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．当前数字化计算时代需求的教育思维</a:t>
            </a:r>
            <a:endParaRPr lang="en-US" altLang="zh-CN" sz="24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．计算思维在教育领域的应用</a:t>
            </a:r>
            <a:endParaRPr lang="en-US" altLang="zh-CN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．教育领域的计算思维</a:t>
            </a: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．对教育进行计算的思维</a:t>
            </a:r>
            <a:endParaRPr lang="zh-CN" alt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093692" y="559873"/>
          <a:ext cx="2441520" cy="397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Picture" r:id="rId3" imgW="2441520" imgH="3979440" progId="Word.Picture.8">
                  <p:embed/>
                </p:oleObj>
              </mc:Choice>
              <mc:Fallback>
                <p:oleObj name="Picture" r:id="rId3" imgW="2441520" imgH="397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3692" y="559873"/>
                        <a:ext cx="2441520" cy="39794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908050" y="559873"/>
            <a:ext cx="1873250" cy="1022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注：前述幻灯片中，显示出错，只好转换成为图片使用了，但不便于维护。在此保留以便维护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35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690</Words>
  <Application>Microsoft Office PowerPoint</Application>
  <PresentationFormat>On-screen Show (16:9)</PresentationFormat>
  <Paragraphs>47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Qzuser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175</cp:revision>
  <dcterms:created xsi:type="dcterms:W3CDTF">2016-05-20T12:59:00Z</dcterms:created>
  <dcterms:modified xsi:type="dcterms:W3CDTF">2023-03-11T01:35:31Z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