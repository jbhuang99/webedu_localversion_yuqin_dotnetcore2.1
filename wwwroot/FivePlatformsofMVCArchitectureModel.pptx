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6" r:id="rId3"/>
    <p:sldId id="308" r:id="rId4"/>
    <p:sldId id="284" r:id="rId5"/>
    <p:sldId id="307" r:id="rId6"/>
    <p:sldId id="260" r:id="rId7"/>
    <p:sldId id="292" r:id="rId8"/>
    <p:sldId id="310" r:id="rId9"/>
    <p:sldId id="303" r:id="rId10"/>
    <p:sldId id="305" r:id="rId11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>
          <p15:clr>
            <a:srgbClr val="A4A3A4"/>
          </p15:clr>
        </p15:guide>
        <p15:guide id="2" orient="horz" pos="1777">
          <p15:clr>
            <a:srgbClr val="A4A3A4"/>
          </p15:clr>
        </p15:guide>
        <p15:guide id="3" pos="31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95E"/>
    <a:srgbClr val="232323"/>
    <a:srgbClr val="FAFAFA"/>
    <a:srgbClr val="DCE3E8"/>
    <a:srgbClr val="D9E2EB"/>
    <a:srgbClr val="848484"/>
    <a:srgbClr val="9B9B9B"/>
    <a:srgbClr val="F0F0F0"/>
    <a:srgbClr val="F6F4F7"/>
    <a:srgbClr val="192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460" y="44"/>
      </p:cViewPr>
      <p:guideLst>
        <p:guide orient="horz" pos="2186"/>
        <p:guide orient="horz" pos="1777"/>
        <p:guide pos="311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-3888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117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66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8084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2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9649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5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706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15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464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456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35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1970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37</a:t>
            </a:r>
            <a:r>
              <a:rPr lang="zh-CN" altLang="en-US" dirty="0" smtClean="0"/>
              <a:t>分钟</a:t>
            </a:r>
            <a:r>
              <a:rPr lang="en-US" altLang="zh-CN" dirty="0" smtClean="0"/>
              <a:t>-40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773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68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4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577228" y="1023443"/>
            <a:ext cx="468000" cy="28800"/>
          </a:xfrm>
          <a:prstGeom prst="rect">
            <a:avLst/>
          </a:prstGeom>
          <a:solidFill>
            <a:srgbClr val="334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3495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0" y="1333829"/>
            <a:ext cx="3655181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0" y="1999034"/>
            <a:ext cx="3655181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333829"/>
            <a:ext cx="3673182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1999034"/>
            <a:ext cx="3673182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3124012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342901"/>
            <a:ext cx="4629150" cy="4052888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3124012" cy="2858691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400"/>
            </a:lvl2pPr>
            <a:lvl3pPr marL="685800" indent="0">
              <a:buNone/>
              <a:defRPr sz="1200"/>
            </a:lvl3pPr>
            <a:lvl4pPr marL="1028700" indent="0">
              <a:buNone/>
              <a:defRPr sz="1100"/>
            </a:lvl4pPr>
            <a:lvl5pPr marL="1371600" indent="0">
              <a:buNone/>
              <a:defRPr sz="1100"/>
            </a:lvl5pPr>
            <a:lvl6pPr marL="1714500" indent="0">
              <a:buNone/>
              <a:defRPr sz="1100"/>
            </a:lvl6pPr>
            <a:lvl7pPr marL="2057400" indent="0">
              <a:buNone/>
              <a:defRPr sz="1100"/>
            </a:lvl7pPr>
            <a:lvl8pPr marL="2400300" indent="0">
              <a:buNone/>
              <a:defRPr sz="1100"/>
            </a:lvl8pPr>
            <a:lvl9pPr marL="27432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28650" y="273844"/>
            <a:ext cx="7886700" cy="43588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2023/3/11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629478" y="1354439"/>
            <a:ext cx="7885044" cy="1077190"/>
          </a:xfrm>
          <a:prstGeom prst="rect">
            <a:avLst/>
          </a:prstGeom>
          <a:noFill/>
        </p:spPr>
        <p:txBody>
          <a:bodyPr wrap="square" lIns="91413" tIns="45706" rIns="91413" bIns="45706" rtlCol="0">
            <a:spAutoFit/>
          </a:bodyPr>
          <a:lstStyle/>
          <a:p>
            <a:pPr algn="ctr"/>
            <a:r>
              <a:rPr lang="en-US" altLang="zh-CN" sz="4800" dirty="0">
                <a:solidFill>
                  <a:srgbClr val="33495E"/>
                </a:solidFill>
                <a:latin typeface="+mn-ea"/>
              </a:rPr>
              <a:t>MVC</a:t>
            </a:r>
            <a:r>
              <a:rPr lang="zh-CN" altLang="en-US" sz="4800" dirty="0">
                <a:solidFill>
                  <a:srgbClr val="33495E"/>
                </a:solidFill>
                <a:latin typeface="+mn-ea"/>
              </a:rPr>
              <a:t>架构的模型</a:t>
            </a:r>
            <a:r>
              <a:rPr lang="en-US" altLang="zh-CN" sz="4800" dirty="0">
                <a:solidFill>
                  <a:srgbClr val="33495E"/>
                </a:solidFill>
                <a:latin typeface="+mn-ea"/>
              </a:rPr>
              <a:t>M</a:t>
            </a:r>
            <a:r>
              <a:rPr lang="zh-CN" altLang="en-US" sz="4800" dirty="0">
                <a:solidFill>
                  <a:srgbClr val="33495E"/>
                </a:solidFill>
                <a:latin typeface="+mn-ea"/>
              </a:rPr>
              <a:t>的五</a:t>
            </a:r>
            <a:r>
              <a:rPr lang="zh-CN" altLang="en-US" sz="4800" dirty="0" smtClean="0">
                <a:solidFill>
                  <a:srgbClr val="33495E"/>
                </a:solidFill>
                <a:latin typeface="+mn-ea"/>
              </a:rPr>
              <a:t>平台</a:t>
            </a:r>
            <a:endParaRPr lang="en-US" altLang="zh-CN" sz="4800" dirty="0" smtClean="0">
              <a:solidFill>
                <a:srgbClr val="33495E"/>
              </a:solidFill>
              <a:latin typeface="+mn-ea"/>
            </a:endParaRPr>
          </a:p>
          <a:p>
            <a:pPr algn="ctr"/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——【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实践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数据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读写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/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技术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信息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运用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/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科学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规律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探究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/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人文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情感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交流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/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哲学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智能建构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】</a:t>
            </a:r>
            <a:endParaRPr lang="zh-CN" altLang="en-US" sz="1600" dirty="0">
              <a:solidFill>
                <a:srgbClr val="33495E"/>
              </a:solidFill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 descr="C:\Users\1\Documents\WeChat Files\wxid_ua0wgxfr986w52\FileStorage\Fav\Temp\8946c324\res\4d25ba3ecc0d901fcbc889184a55e253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222250"/>
            <a:ext cx="8674099" cy="4235450"/>
          </a:xfrm>
          <a:prstGeom prst="rect">
            <a:avLst/>
          </a:prstGeom>
          <a:noFill/>
          <a:ln w="9525">
            <a:solidFill>
              <a:srgbClr val="5B9BD5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575651" y="4457700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思政要素：学习兴趣、国家情怀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4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368174" y="-115898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46050" y="165100"/>
            <a:ext cx="8997950" cy="48196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9625649"/>
              </p:ext>
            </p:extLst>
          </p:nvPr>
        </p:nvGraphicFramePr>
        <p:xfrm>
          <a:off x="573232" y="264101"/>
          <a:ext cx="7899400" cy="45428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Picture" r:id="rId3" imgW="5771520" imgH="4519800" progId="Word.Picture.8">
                  <p:embed/>
                </p:oleObj>
              </mc:Choice>
              <mc:Fallback>
                <p:oleObj name="Picture" r:id="rId3" imgW="5771520" imgH="4519800" progId="Word.Picture.8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3232" y="264101"/>
                        <a:ext cx="7899400" cy="454283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255964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11"/>
          <p:cNvSpPr txBox="1"/>
          <p:nvPr/>
        </p:nvSpPr>
        <p:spPr>
          <a:xfrm>
            <a:off x="5304663" y="1027075"/>
            <a:ext cx="3251597" cy="3131627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r>
              <a:rPr lang="en-US" altLang="zh-CN" sz="19900" i="1" dirty="0">
                <a:solidFill>
                  <a:srgbClr val="DCE3E8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01</a:t>
            </a:r>
            <a:endParaRPr lang="zh-CN" altLang="en-US" sz="19900" i="1" dirty="0">
              <a:solidFill>
                <a:srgbClr val="DCE3E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50" y="279400"/>
            <a:ext cx="8699500" cy="41368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5575651" y="4457700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思政要素：学思结合、实事求是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数据库、教育数据库的</a:t>
            </a:r>
            <a:r>
              <a:rPr lang="zh-CN" altLang="en-US" sz="32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本质、科学原理：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0991" y="1138048"/>
            <a:ext cx="8223250" cy="313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本质上也是计算机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语言的代码文件，不过更加面向数据的读增改删，并且基于数据库宿主软件运行，例如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 Server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SQLite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MySQL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Cosmos </a:t>
            </a:r>
            <a:r>
              <a:rPr lang="en-US" altLang="zh-CN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DB</a:t>
            </a:r>
            <a:r>
              <a:rPr lang="zh-CN" altLang="en-US" sz="2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等等。</a:t>
            </a:r>
            <a:endParaRPr lang="en-US" altLang="zh-CN" sz="22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领域认为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数据语言可以认为是：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</a:t>
            </a:r>
            <a:r>
              <a:rPr lang="en-US" altLang="zh-CN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的语言→人脑平台的字符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非字符的语言→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这些通用语言→</a:t>
            </a:r>
            <a:r>
              <a:rPr lang="en-US" altLang="zh-CN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这些面向数据的语言。</a:t>
            </a:r>
            <a:endParaRPr lang="en-US" altLang="zh-CN" sz="2200" dirty="0" smtClean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学术领域认为数据包含“实践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读写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信息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运用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科学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规律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探究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人文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情感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交流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哲学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建构”平台层次。</a:t>
            </a:r>
            <a:endParaRPr lang="zh-CN" altLang="en-US" sz="2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597837" y="4434911"/>
            <a:ext cx="52116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思政要素：正确认识问题、分析问题、科学规律、科学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思维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0470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Picture 6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260350"/>
            <a:ext cx="8667750" cy="425383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3909410" y="4514180"/>
            <a:ext cx="48526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思政要素：大国工匠、精益求精、工程伦理、科技报国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11"/>
          <p:cNvSpPr txBox="1"/>
          <p:nvPr/>
        </p:nvSpPr>
        <p:spPr>
          <a:xfrm>
            <a:off x="5106357" y="1027075"/>
            <a:ext cx="3251597" cy="3131627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r>
              <a:rPr lang="en-US" altLang="zh-CN" sz="19900" i="1" dirty="0">
                <a:solidFill>
                  <a:srgbClr val="DCE3E8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02</a:t>
            </a:r>
            <a:endParaRPr lang="zh-CN" altLang="en-US" sz="19900" i="1" dirty="0">
              <a:solidFill>
                <a:srgbClr val="DCE3E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400" y="260350"/>
            <a:ext cx="8578850" cy="4271010"/>
          </a:xfrm>
          <a:prstGeom prst="rect">
            <a:avLst/>
          </a:prstGeom>
          <a:noFill/>
          <a:ln w="6350" cmpd="sng">
            <a:solidFill>
              <a:srgbClr val="000000"/>
            </a:solidFill>
            <a:miter lim="800000"/>
            <a:headEnd/>
            <a:tailEnd/>
          </a:ln>
          <a:effectLst/>
        </p:spPr>
      </p:pic>
      <p:sp>
        <p:nvSpPr>
          <p:cNvPr id="4" name="Rectangle 3"/>
          <p:cNvSpPr/>
          <p:nvPr/>
        </p:nvSpPr>
        <p:spPr>
          <a:xfrm>
            <a:off x="5744983" y="4531360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思政要素：科技强国、服务社会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8358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16078" t="8528" r="14488" b="16904"/>
          <a:stretch/>
        </p:blipFill>
        <p:spPr>
          <a:xfrm rot="20538853">
            <a:off x="496823" y="2262398"/>
            <a:ext cx="2495550" cy="2006600"/>
          </a:xfrm>
          <a:prstGeom prst="rect">
            <a:avLst/>
          </a:prstGeom>
        </p:spPr>
      </p:pic>
      <p:pic>
        <p:nvPicPr>
          <p:cNvPr id="1026" name="Picture 2" descr="大脑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5433">
            <a:off x="6728883" y="2217948"/>
            <a:ext cx="2095500" cy="209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思辨教育数据库模型</a:t>
            </a:r>
            <a:r>
              <a:rPr lang="en-US" altLang="zh-CN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的优缺点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860550" y="1087248"/>
            <a:ext cx="478790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业界认为，计算机数据思维最能隐喻人脑数据思维，但也必须注意到人机隐喻的一些缺陷，例如，计算机是“</a:t>
            </a:r>
            <a:r>
              <a:rPr lang="en-US" altLang="zh-CN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语言”的二进制电路组成的物性的机器，人是“字符</a:t>
            </a:r>
            <a:r>
              <a:rPr lang="en-US" altLang="zh-CN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非字符语言”的神经系统组成的人性的生物体，所以，“教育数据库模型</a:t>
            </a:r>
            <a:r>
              <a:rPr lang="en-US" altLang="zh-CN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26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”必须物性与人性统一。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14689" y="4460753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思政要素：辩证思辨、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自主优化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9639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测验、小结、讲后思考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="" xmlns:a16="http://schemas.microsoft.com/office/drawing/2014/main" id="{438813D7-676E-4BB1-8BD1-AA790C109740}"/>
              </a:ext>
            </a:extLst>
          </p:cNvPr>
          <p:cNvSpPr txBox="1"/>
          <p:nvPr/>
        </p:nvSpPr>
        <p:spPr>
          <a:xfrm>
            <a:off x="4944533" y="4490471"/>
            <a:ext cx="3812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/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学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思结合、知行统一、实事求是）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" y="1087248"/>
            <a:ext cx="8223250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关于教育数据库模型</a:t>
            </a:r>
            <a:r>
              <a:rPr lang="en-US" altLang="zh-CN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的说法错误的是：</a:t>
            </a:r>
            <a:endParaRPr lang="en-US" altLang="zh-CN" sz="35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．是数据库模型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在教育领域的应用。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．对数据库进行教育的数据库。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．本质上也是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语言的代码文件，不过更加面向数据的读增改删，并且基于数据库宿主软件运行，例如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 Server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．学术领域认为数据包含“实践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数据读写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技术信息运用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科学规律探究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人文情感交流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哲学智能</a:t>
            </a:r>
            <a:r>
              <a:rPr lang="zh-CN" altLang="en-US" sz="230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建构”五个平台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层次。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547091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435781" y="1245349"/>
            <a:ext cx="4272439" cy="1177245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7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THANKS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58406" y="2720907"/>
            <a:ext cx="2810563" cy="561692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zh-CN" altLang="en-US" sz="3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敬请批评指正</a:t>
            </a:r>
          </a:p>
        </p:txBody>
      </p:sp>
    </p:spTree>
    <p:extLst>
      <p:ext uri="{BB962C8B-B14F-4D97-AF65-F5344CB8AC3E}">
        <p14:creationId xmlns:p14="http://schemas.microsoft.com/office/powerpoint/2010/main" val="142754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Qzus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461</Words>
  <Application>Microsoft Office PowerPoint</Application>
  <PresentationFormat>On-screen Show (16:9)</PresentationFormat>
  <Paragraphs>41</Paragraphs>
  <Slides>10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黑体</vt:lpstr>
      <vt:lpstr>宋体</vt:lpstr>
      <vt:lpstr>微软雅黑</vt:lpstr>
      <vt:lpstr>Arial</vt:lpstr>
      <vt:lpstr>Calibri</vt:lpstr>
      <vt:lpstr>Times New Roman</vt:lpstr>
      <vt:lpstr>Wingdings</vt:lpstr>
      <vt:lpstr>Qzuser</vt:lpstr>
      <vt:lpstr>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qzuser;</dc:title>
  <dc:creator>qzuser</dc:creator>
  <cp:keywords>qzuser</cp:keywords>
  <dc:description>qzuser</dc:description>
  <cp:lastModifiedBy>Microsoft account</cp:lastModifiedBy>
  <cp:revision>170</cp:revision>
  <dcterms:created xsi:type="dcterms:W3CDTF">2016-05-20T12:59:00Z</dcterms:created>
  <dcterms:modified xsi:type="dcterms:W3CDTF">2023-03-11T01:22:42Z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2052-10.1.0.7698</vt:lpwstr>
  </property>
</Properties>
</file>