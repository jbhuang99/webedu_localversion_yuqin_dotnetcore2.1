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12" r:id="rId2"/>
    <p:sldId id="315" r:id="rId3"/>
    <p:sldId id="314" r:id="rId4"/>
    <p:sldId id="306" r:id="rId5"/>
    <p:sldId id="307" r:id="rId6"/>
    <p:sldId id="316" r:id="rId7"/>
    <p:sldId id="310" r:id="rId8"/>
    <p:sldId id="309" r:id="rId9"/>
    <p:sldId id="303" r:id="rId10"/>
    <p:sldId id="305" r:id="rId1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464" y="68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131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在此是利用</a:t>
            </a:r>
            <a:r>
              <a:rPr lang="en-US" altLang="zh-CN" dirty="0" smtClean="0"/>
              <a:t>NOTES</a:t>
            </a:r>
            <a:r>
              <a:rPr lang="zh-CN" altLang="en-US" dirty="0" smtClean="0"/>
              <a:t>功能进行编辑、放映的说明。本模板中，</a:t>
            </a:r>
            <a:r>
              <a:rPr lang="en-US" altLang="zh-CN" dirty="0" smtClean="0"/>
              <a:t>NOTES</a:t>
            </a:r>
            <a:r>
              <a:rPr lang="zh-CN" altLang="en-US" dirty="0" smtClean="0"/>
              <a:t>功能主要用来呈现教育数字思维的过程三状态、</a:t>
            </a:r>
            <a:r>
              <a:rPr lang="en-US" altLang="zh-CN" dirty="0" smtClean="0"/>
              <a:t>MVC</a:t>
            </a:r>
            <a:r>
              <a:rPr lang="zh-CN" altLang="en-US" dirty="0" smtClean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067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40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分钟的</a:t>
            </a:r>
            <a:r>
              <a:rPr lang="en-US" altLang="zh-CN" dirty="0" smtClean="0"/>
              <a:t>MVC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530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分钟的</a:t>
            </a:r>
            <a:r>
              <a:rPr lang="en-US" altLang="zh-CN" dirty="0" smtClean="0"/>
              <a:t>MVC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980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：技术</a:t>
            </a:r>
            <a:r>
              <a:rPr lang="en-US" dirty="0" smtClean="0"/>
              <a:t>(</a:t>
            </a:r>
            <a:r>
              <a:rPr lang="zh-CN" altLang="en-US" dirty="0" smtClean="0"/>
              <a:t>信息运用</a:t>
            </a:r>
            <a:r>
              <a:rPr lang="en-US" dirty="0" smtClean="0"/>
              <a:t>) 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02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分钟的</a:t>
            </a:r>
            <a:r>
              <a:rPr lang="en-US" altLang="zh-CN" dirty="0" smtClean="0"/>
              <a:t>MVC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007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35</a:t>
            </a:r>
            <a:r>
              <a:rPr lang="zh-CN" altLang="en-US" dirty="0" smtClean="0"/>
              <a:t>分钟的</a:t>
            </a:r>
            <a:r>
              <a:rPr lang="en-US" altLang="zh-CN" dirty="0" smtClean="0"/>
              <a:t>MVC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566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37</a:t>
            </a:r>
            <a:r>
              <a:rPr lang="zh-CN" altLang="en-US" dirty="0" smtClean="0"/>
              <a:t>分钟</a:t>
            </a:r>
            <a:r>
              <a:rPr lang="en-US" altLang="zh-CN" dirty="0" smtClean="0"/>
              <a:t>~40</a:t>
            </a:r>
            <a:r>
              <a:rPr lang="zh-CN" altLang="en-US" dirty="0" smtClean="0"/>
              <a:t>分钟的</a:t>
            </a:r>
            <a:r>
              <a:rPr lang="en-US" altLang="zh-CN" dirty="0" smtClean="0"/>
              <a:t>MVC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  <p:sp>
        <p:nvSpPr>
          <p:cNvPr id="3" name="文本框 1"/>
          <p:cNvSpPr txBox="1"/>
          <p:nvPr userDrawn="1"/>
        </p:nvSpPr>
        <p:spPr>
          <a:xfrm>
            <a:off x="5976174" y="4589618"/>
            <a:ext cx="2810563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yuqin9999@dingtalk.com</a:t>
            </a:r>
            <a:endParaRPr lang="zh-CN" altLang="en-US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ie=utf-8&amp;f=8&amp;rsv_bp=1&amp;rsv_idx=1&amp;tn=baidu&amp;wd=%E6%95%99%E8%82%B2%E6%A1%86%E6%9E%B6%E4%B8%8E%E6%A1%88%E4%BE%8B%E2%80%94%E2%80%94%E6%95%B0%E5%AD%97%E5%8C%96%E8%AE%A1%E7%AE%97%E6%80%9D%E7%BB%B4%E4%B8%8E%E4%BA%BA%E5%B7%A5%E6%99%BA%E8%83%BD%E7%BB%9F%E4%B8%80%E7%9A%84%E8%A7%86%E8%A7%92&amp;fenlei=256&amp;rsv_pq=0xc70e3f0b000afc38&amp;rsv_t=eb04ggyJxoJZZdApOdBbl7MW8rbTxyJyxOvYv1xLbW8Yt562iioMz5S6dirT&amp;rqlang=en&amp;rsv_enter=1&amp;rsv_dl=ib&amp;rsv_sug3=3&amp;rsv_n=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1%A8%E4%BB%A5%E7%9C%9F/3287809?fr=aladdi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ie=utf-8&amp;f=8&amp;rsv_bp=1&amp;rsv_idx=1&amp;tn=baidu&amp;wd=%E6%95%99%E8%82%B2%E6%A1%86%E6%9E%B6%E4%B8%8E%E6%A1%88%E4%BE%8B%E2%80%94%E2%80%94%E6%95%B0%E5%AD%97%E5%8C%96%E8%AE%A1%E7%AE%97%E6%80%9D%E7%BB%B4%E4%B8%8E%E4%BA%BA%E5%B7%A5%E6%99%BA%E8%83%BD%E7%BB%9F%E4%B8%80%E7%9A%84%E8%A7%86%E8%A7%92&amp;fenlei=256&amp;rsv_pq=0xc70e3f0b000afc38&amp;rsv_t=eb04ggyJxoJZZdApOdBbl7MW8rbTxyJyxOvYv1xLbW8Yt562iioMz5S6dirT&amp;rqlang=en&amp;rsv_enter=1&amp;rsv_dl=ib&amp;rsv_sug3=3&amp;rsv_n=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hlinkClick r:id="rId3"/>
          </p:cNvPr>
          <p:cNvSpPr txBox="1"/>
          <p:nvPr/>
        </p:nvSpPr>
        <p:spPr>
          <a:xfrm>
            <a:off x="629478" y="1354439"/>
            <a:ext cx="7885044" cy="1138745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400" dirty="0">
                <a:solidFill>
                  <a:srgbClr val="33495E"/>
                </a:solidFill>
                <a:latin typeface="+mn-ea"/>
                <a:hlinkClick r:id="rId3"/>
              </a:rPr>
              <a:t>教育软件与教育技术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  <a:hlinkClick r:id="rId3"/>
              </a:rPr>
              <a:t>：</a:t>
            </a:r>
            <a:r>
              <a:rPr lang="zh-CN" altLang="en-US" sz="3400" dirty="0">
                <a:solidFill>
                  <a:srgbClr val="33495E"/>
                </a:solidFill>
                <a:latin typeface="+mn-ea"/>
                <a:hlinkClick r:id="rId3"/>
              </a:rPr>
              <a:t>数字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  <a:hlinkClick r:id="rId3"/>
              </a:rPr>
              <a:t>思维</a:t>
            </a:r>
            <a:r>
              <a:rPr lang="zh-CN" altLang="en-US" sz="3400" dirty="0">
                <a:solidFill>
                  <a:srgbClr val="33495E"/>
                </a:solidFill>
                <a:latin typeface="+mn-ea"/>
                <a:hlinkClick r:id="rId3"/>
              </a:rPr>
              <a:t>教育、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  <a:hlinkClick r:id="rId3"/>
              </a:rPr>
              <a:t>教育</a:t>
            </a:r>
            <a:r>
              <a:rPr lang="zh-CN" altLang="en-US" sz="3400" dirty="0">
                <a:solidFill>
                  <a:srgbClr val="33495E"/>
                </a:solidFill>
                <a:latin typeface="+mn-ea"/>
                <a:hlinkClick r:id="rId3"/>
              </a:rPr>
              <a:t>数字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  <a:hlinkClick r:id="rId3"/>
              </a:rPr>
              <a:t>思维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5868969" y="4312145"/>
            <a:ext cx="2810563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yuqin9999@dingtalk.com</a:t>
            </a:r>
            <a:endParaRPr lang="zh-CN" altLang="en-US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2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57">
        <p14:ripple dir="lu"/>
      </p:transition>
    </mc:Choice>
    <mc:Fallback xmlns="">
      <p:transition spd="slow" advTm="6057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35" y="314553"/>
            <a:ext cx="3825036" cy="2151583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2926080" y="2513482"/>
            <a:ext cx="1065474" cy="817245"/>
          </a:xfrm>
          <a:prstGeom prst="wedgeRoundRectCallout">
            <a:avLst>
              <a:gd name="adj1" fmla="val -22326"/>
              <a:gd name="adj2" fmla="val -76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dirty="0"/>
              <a:t>编辑时单击切换显示</a:t>
            </a:r>
            <a:r>
              <a:rPr lang="en-US" altLang="zh-CN" dirty="0" smtClean="0"/>
              <a:t>Notes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240" y="2098710"/>
            <a:ext cx="4380505" cy="2464034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7308572" y="1416559"/>
            <a:ext cx="1239079" cy="1505545"/>
          </a:xfrm>
          <a:prstGeom prst="wedgeRoundRectCallout">
            <a:avLst>
              <a:gd name="adj1" fmla="val 20958"/>
              <a:gd name="adj2" fmla="val 697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dirty="0"/>
              <a:t>演示</a:t>
            </a:r>
            <a:r>
              <a:rPr lang="zh-CN" altLang="en-US" dirty="0" smtClean="0"/>
              <a:t>时右击菜单单击</a:t>
            </a:r>
            <a:r>
              <a:rPr lang="en-US" altLang="zh-CN" dirty="0" smtClean="0"/>
              <a:t>Show Presenter View</a:t>
            </a:r>
            <a:r>
              <a:rPr lang="zh-CN" altLang="en-US" dirty="0" smtClean="0"/>
              <a:t>切换</a:t>
            </a:r>
            <a:r>
              <a:rPr lang="zh-CN" altLang="en-US" dirty="0"/>
              <a:t>显示</a:t>
            </a:r>
            <a:r>
              <a:rPr lang="en-US" altLang="zh-CN" dirty="0" smtClean="0"/>
              <a:t>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26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48">
        <p15:prstTrans prst="peelOff"/>
      </p:transition>
    </mc:Choice>
    <mc:Fallback xmlns="">
      <p:transition spd="slow" advTm="44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22250"/>
            <a:ext cx="8674099" cy="4311650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67526" y="4533900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思政要素：学习兴趣、国家情怀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1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71">
        <p14:ripple dir="lu"/>
      </p:transition>
    </mc:Choice>
    <mc:Fallback xmlns="">
      <p:transition spd="slow" advTm="27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10182" y="52356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数字</a:t>
            </a:r>
            <a:r>
              <a:rPr lang="zh-CN" altLang="en-US" sz="1800" dirty="0" smtClean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思维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的具体案例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138048"/>
            <a:ext cx="8132168" cy="423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教育，即，“计算机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硬件平台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语言计算”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隐喻“人脑平台的字符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语言计算”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一数字思维本质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及其扩展，被用作教育的内容。</a:t>
            </a:r>
            <a:endParaRPr lang="en-US" altLang="zh-CN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，即，“计算机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序列的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语言计算”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隐喻“人脑平台的字符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语言计算”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一数字思维本质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及其扩展，被用作教育的方法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“教育数字思维”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是当前数字化计算时代所需的教育思维。研究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“教育数字思维”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，在教育领域具有现实意义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。可提升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教育思维的时代性、数字化、计算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性、人工智能特性，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提升全民数字素养与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技能。</a:t>
            </a:r>
            <a:endParaRPr lang="en-US" sz="2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713"/>
              </a:spcAft>
              <a:buClr>
                <a:srgbClr val="00544A"/>
              </a:buClr>
            </a:pP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88983" y="4441195"/>
            <a:ext cx="2441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100" b="1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思政要素：学思结合、实事求是</a:t>
            </a:r>
            <a:r>
              <a:rPr lang="zh-CN" altLang="en-US" sz="11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7064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21">
        <p15:prstTrans prst="peelOff"/>
      </p:transition>
    </mc:Choice>
    <mc:Fallback xmlns="">
      <p:transition spd="slow" advTm="22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教育数字思维的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本质、科学原理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3441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面向远古时代的</a:t>
            </a: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）数字思维本质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 ：“人脑的字符</a:t>
            </a:r>
            <a:r>
              <a:rPr 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</a:t>
            </a: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的多重进制的多媒体语言计算”。</a:t>
            </a:r>
            <a:endParaRPr lang="en-US" altLang="zh-CN" sz="2700" dirty="0" smtClean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（面向图灵数字化计算时代的</a:t>
            </a:r>
            <a:r>
              <a:rPr lang="zh-CN" altLang="en-US" sz="27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）数字思维本质</a:t>
            </a: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，即：“计算机的</a:t>
            </a:r>
            <a:r>
              <a:rPr lang="en-US" altLang="zh-CN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7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的二进制的数字语言计算”</a:t>
            </a: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（面向当前数字化计算时代的</a:t>
            </a:r>
            <a:r>
              <a:rPr lang="zh-CN" altLang="en-US" sz="27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）数字思维的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本质，即：“计算机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7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语言计算”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隐喻“人脑平台的字符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</a:t>
            </a:r>
            <a:r>
              <a:rPr lang="zh-CN" altLang="en-US" sz="27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语言计算”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7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31268" y="4559477"/>
            <a:ext cx="61093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（思政要素：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认识问题、分析问题、解决问题、科学思维、科学伦理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141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148">
        <p15:prstTrans prst="peelOff"/>
      </p:transition>
    </mc:Choice>
    <mc:Fallback xmlns="">
      <p:transition spd="slow" advTm="314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455289" y="547212"/>
            <a:ext cx="410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“教育数字思维”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在教育教学中的应用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1" y="1195778"/>
            <a:ext cx="301005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的本质框架：“教育开始、教育中途、教育结束”中的“客户端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、互动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MVC”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选用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的“四个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平台语言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”，即，“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软件第二平台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语言计算、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软件第一平台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语言计算、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硬件第二平台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语言计算、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硬件第一平台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语言计算</a:t>
            </a:r>
            <a:r>
              <a:rPr lang="en-US" altLang="zh-CN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数字思维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】”</a:t>
            </a:r>
            <a:endParaRPr lang="en-US" sz="20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triped Right Arrow 3"/>
          <p:cNvSpPr/>
          <p:nvPr/>
        </p:nvSpPr>
        <p:spPr>
          <a:xfrm>
            <a:off x="3590085" y="2471241"/>
            <a:ext cx="933450" cy="3873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5200" y="135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思政要素：大国工匠、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精益求精）</a:t>
            </a:r>
            <a:endParaRPr 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079407"/>
              </p:ext>
            </p:extLst>
          </p:nvPr>
        </p:nvGraphicFramePr>
        <p:xfrm>
          <a:off x="4584003" y="880090"/>
          <a:ext cx="4176712" cy="3821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Picture" r:id="rId4" imgW="4061520" imgH="4699800" progId="Word.Picture.8">
                  <p:embed/>
                </p:oleObj>
              </mc:Choice>
              <mc:Fallback>
                <p:oleObj name="Picture" r:id="rId4" imgW="4061520" imgH="4699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003" y="880090"/>
                        <a:ext cx="4176712" cy="38215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75359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659">
        <p15:prstTrans prst="peelOff"/>
      </p:transition>
    </mc:Choice>
    <mc:Fallback xmlns="">
      <p:transition spd="slow" advTm="265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455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/>
              <a:t>教育数字思维的</a:t>
            </a:r>
            <a:r>
              <a:rPr lang="zh-CN" altLang="en-US" sz="1800" dirty="0"/>
              <a:t>自然与人文的统一观</a:t>
            </a:r>
            <a:endParaRPr lang="zh-CN" altLang="en-US" sz="18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0697"/>
            <a:ext cx="5506541" cy="2460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 rot="21410777">
            <a:off x="606780" y="3479224"/>
            <a:ext cx="828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kern="100" dirty="0" smtClean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“数字思维的</a:t>
            </a:r>
            <a:r>
              <a:rPr lang="en-US" sz="1800" b="1" kern="100" dirty="0" smtClean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个判定标准”：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是概念化，不是程序化；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是根本的技能，不是机械的技能；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是人的思维，不是计算机的思维；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是数学和工程思维的互补与融合，不是纯数学；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是思想，不是人造物；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是面向所有的人面向所有的领域，不是仅面向计算机仅面向定量的领域。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思政要素：国家情怀、文化自信）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7417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739">
        <p15:prstTrans prst="peelOff"/>
      </p:transition>
    </mc:Choice>
    <mc:Fallback xmlns="">
      <p:transition spd="slow" advTm="173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49739" y="2288944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610350" y="234423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教育数字思维的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903098"/>
            <a:ext cx="47879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业界认为，计算机思维最能隐喻人脑思维，但也必须注意到人机隐喻的一些缺陷，例如，计算机是“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“数字思维本质”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必须物性与人性统一。</a:t>
            </a:r>
            <a:endParaRPr lang="en-US" sz="26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：辩证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思辨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、自主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优化）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71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28">
        <p15:prstTrans prst="peelOff"/>
      </p:transition>
    </mc:Choice>
    <mc:Fallback xmlns="">
      <p:transition spd="slow" advTm="32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38813D7-676E-4BB1-8BD1-AA790C109740}"/>
              </a:ext>
            </a:extLst>
          </p:cNvPr>
          <p:cNvSpPr txBox="1"/>
          <p:nvPr/>
        </p:nvSpPr>
        <p:spPr>
          <a:xfrm>
            <a:off x="4787900" y="4346419"/>
            <a:ext cx="3810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（思政要素：学</a:t>
            </a:r>
            <a:r>
              <a:rPr lang="zh-CN" altLang="en-US" dirty="0"/>
              <a:t>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2652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关于教育数字思维的说法，错误的是（）：</a:t>
            </a: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．当前数字化计算时代需求的教育思维</a:t>
            </a:r>
            <a:endParaRPr lang="en-US" altLang="zh-CN" sz="24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．数字思维在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教育领域的应用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．教育领域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的数字思维</a:t>
            </a:r>
            <a:endParaRPr lang="zh-CN" alt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．对教育进行计算的思维</a:t>
            </a:r>
            <a:endParaRPr lang="zh-CN" alt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3">
        <p15:prstTrans prst="peelOff"/>
      </p:transition>
    </mc:Choice>
    <mc:Fallback xmlns="">
      <p:transition spd="slow" advTm="3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hlinkClick r:id="rId3"/>
          </p:cNvPr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  <a:hlinkClick r:id="rId3"/>
              </a:rPr>
              <a:t>THANKS</a:t>
            </a:r>
            <a:endParaRPr lang="en-US" altLang="zh-CN" sz="72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</a:t>
            </a:r>
            <a:r>
              <a:rPr lang="zh-CN" altLang="en-US" sz="3200" dirty="0" smtClean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批评指正</a:t>
            </a:r>
            <a:endParaRPr lang="zh-CN" altLang="en-US" sz="32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5868969" y="4312145"/>
            <a:ext cx="2810563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yuqin9999@dingtalk.com</a:t>
            </a:r>
            <a:endParaRPr lang="zh-CN" altLang="en-US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395">
        <p14:warp/>
      </p:transition>
    </mc:Choice>
    <mc:Fallback xmlns="">
      <p:transition spd="slow" advTm="395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754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193</cp:revision>
  <dcterms:created xsi:type="dcterms:W3CDTF">2016-05-20T12:59:00Z</dcterms:created>
  <dcterms:modified xsi:type="dcterms:W3CDTF">2023-10-29T13:49:00Z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