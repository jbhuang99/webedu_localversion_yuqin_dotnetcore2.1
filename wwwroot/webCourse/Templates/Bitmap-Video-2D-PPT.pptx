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m4a" ContentType="audio/mp4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312" r:id="rId2"/>
    <p:sldId id="315" r:id="rId3"/>
    <p:sldId id="314" r:id="rId4"/>
    <p:sldId id="306" r:id="rId5"/>
    <p:sldId id="307" r:id="rId6"/>
    <p:sldId id="316" r:id="rId7"/>
    <p:sldId id="310" r:id="rId8"/>
    <p:sldId id="309" r:id="rId9"/>
    <p:sldId id="303" r:id="rId10"/>
    <p:sldId id="305" r:id="rId11"/>
  </p:sldIdLst>
  <p:sldSz cx="9144000" cy="5143500" type="screen16x9"/>
  <p:notesSz cx="6858000" cy="9144000"/>
  <p:defaultTextStyle>
    <a:defPPr>
      <a:defRPr lang="zh-CN"/>
    </a:defPPr>
    <a:lvl1pPr marL="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>
          <p15:clr>
            <a:srgbClr val="A4A3A4"/>
          </p15:clr>
        </p15:guide>
        <p15:guide id="2" orient="horz" pos="1777">
          <p15:clr>
            <a:srgbClr val="A4A3A4"/>
          </p15:clr>
        </p15:guide>
        <p15:guide id="3" pos="31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495E"/>
    <a:srgbClr val="232323"/>
    <a:srgbClr val="FAFAFA"/>
    <a:srgbClr val="DCE3E8"/>
    <a:srgbClr val="D9E2EB"/>
    <a:srgbClr val="848484"/>
    <a:srgbClr val="9B9B9B"/>
    <a:srgbClr val="F0F0F0"/>
    <a:srgbClr val="F6F4F7"/>
    <a:srgbClr val="192A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4" d="100"/>
          <a:sy n="94" d="100"/>
        </p:scale>
        <p:origin x="464" y="68"/>
      </p:cViewPr>
      <p:guideLst>
        <p:guide orient="horz" pos="2186"/>
        <p:guide orient="horz" pos="1777"/>
        <p:guide pos="311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-3888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3117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5131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在此是利用</a:t>
            </a:r>
            <a:r>
              <a:rPr lang="en-US" altLang="zh-CN" dirty="0" smtClean="0"/>
              <a:t>NOTES</a:t>
            </a:r>
            <a:r>
              <a:rPr lang="zh-CN" altLang="en-US" dirty="0" smtClean="0"/>
              <a:t>功能进行编辑、放映的说明。本模板中，</a:t>
            </a:r>
            <a:r>
              <a:rPr lang="en-US" altLang="zh-CN" dirty="0" smtClean="0"/>
              <a:t>NOTES</a:t>
            </a:r>
            <a:r>
              <a:rPr lang="zh-CN" altLang="en-US" dirty="0" smtClean="0"/>
              <a:t>功能主要用来呈现教育数字思维的过程三状态、</a:t>
            </a:r>
            <a:r>
              <a:rPr lang="en-US" altLang="zh-CN" dirty="0" smtClean="0"/>
              <a:t>MVC</a:t>
            </a:r>
            <a:r>
              <a:rPr lang="zh-CN" altLang="en-US" dirty="0" smtClean="0"/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0676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0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71409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2</a:t>
            </a:r>
            <a:r>
              <a:rPr lang="zh-CN" altLang="en-US" dirty="0" smtClean="0"/>
              <a:t>分钟的</a:t>
            </a:r>
            <a:r>
              <a:rPr lang="en-US" altLang="zh-CN" dirty="0" smtClean="0"/>
              <a:t>MVC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5301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5</a:t>
            </a:r>
            <a:r>
              <a:rPr lang="zh-CN" altLang="en-US" dirty="0" smtClean="0"/>
              <a:t>分钟的</a:t>
            </a:r>
            <a:r>
              <a:rPr lang="en-US" altLang="zh-CN" dirty="0" smtClean="0"/>
              <a:t>MVC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980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第</a:t>
            </a:r>
            <a:r>
              <a:rPr lang="en-US" altLang="zh-CN" dirty="0" smtClean="0"/>
              <a:t>15</a:t>
            </a:r>
            <a:r>
              <a:rPr lang="zh-CN" altLang="en-US" dirty="0" smtClean="0"/>
              <a:t>分钟。视图</a:t>
            </a:r>
            <a:r>
              <a:rPr lang="en-US" altLang="zh-CN" dirty="0" smtClean="0"/>
              <a:t>V</a:t>
            </a:r>
            <a:r>
              <a:rPr lang="zh-CN" altLang="en-US" dirty="0" smtClean="0"/>
              <a:t>：如上。控制</a:t>
            </a:r>
            <a:r>
              <a:rPr lang="en-US" altLang="zh-CN" dirty="0" smtClean="0"/>
              <a:t>C</a:t>
            </a:r>
            <a:r>
              <a:rPr lang="zh-CN" altLang="en-US" dirty="0" smtClean="0"/>
              <a:t>：一对多。模型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：技术</a:t>
            </a:r>
            <a:r>
              <a:rPr lang="en-US" dirty="0" smtClean="0"/>
              <a:t>(</a:t>
            </a:r>
            <a:r>
              <a:rPr lang="zh-CN" altLang="en-US" dirty="0" smtClean="0"/>
              <a:t>信息运用</a:t>
            </a:r>
            <a:r>
              <a:rPr lang="en-US" dirty="0" smtClean="0"/>
              <a:t>) </a:t>
            </a:r>
            <a:endParaRPr lang="zh-CN" altLang="en-US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9025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30</a:t>
            </a:r>
            <a:r>
              <a:rPr lang="zh-CN" altLang="en-US" dirty="0" smtClean="0"/>
              <a:t>分钟的</a:t>
            </a:r>
            <a:r>
              <a:rPr lang="en-US" altLang="zh-CN" dirty="0" smtClean="0"/>
              <a:t>MVC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0072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35</a:t>
            </a:r>
            <a:r>
              <a:rPr lang="zh-CN" altLang="en-US" dirty="0" smtClean="0"/>
              <a:t>分钟的</a:t>
            </a:r>
            <a:r>
              <a:rPr lang="en-US" altLang="zh-CN" dirty="0" smtClean="0"/>
              <a:t>MVC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5660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37</a:t>
            </a:r>
            <a:r>
              <a:rPr lang="zh-CN" altLang="en-US" dirty="0" smtClean="0"/>
              <a:t>分钟</a:t>
            </a:r>
            <a:r>
              <a:rPr lang="en-US" altLang="zh-CN" dirty="0" smtClean="0"/>
              <a:t>~40</a:t>
            </a:r>
            <a:r>
              <a:rPr lang="zh-CN" altLang="en-US" dirty="0" smtClean="0"/>
              <a:t>分钟的</a:t>
            </a:r>
            <a:r>
              <a:rPr lang="en-US" altLang="zh-CN" dirty="0" smtClean="0"/>
              <a:t>MVC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17736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4687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40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577228" y="1023443"/>
            <a:ext cx="468000" cy="28800"/>
          </a:xfrm>
          <a:prstGeom prst="rect">
            <a:avLst/>
          </a:prstGeom>
          <a:solidFill>
            <a:srgbClr val="334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3495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0" y="1333829"/>
            <a:ext cx="3655181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0" y="1999034"/>
            <a:ext cx="3655181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333829"/>
            <a:ext cx="3673182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1999034"/>
            <a:ext cx="3673182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3124012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342901"/>
            <a:ext cx="4629150" cy="4052888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3124012" cy="2858691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400"/>
            </a:lvl2pPr>
            <a:lvl3pPr marL="685800" indent="0">
              <a:buNone/>
              <a:defRPr sz="1200"/>
            </a:lvl3pPr>
            <a:lvl4pPr marL="1028700" indent="0">
              <a:buNone/>
              <a:defRPr sz="1100"/>
            </a:lvl4pPr>
            <a:lvl5pPr marL="1371600" indent="0">
              <a:buNone/>
              <a:defRPr sz="1100"/>
            </a:lvl5pPr>
            <a:lvl6pPr marL="1714500" indent="0">
              <a:buNone/>
              <a:defRPr sz="1100"/>
            </a:lvl6pPr>
            <a:lvl7pPr marL="2057400" indent="0">
              <a:buNone/>
              <a:defRPr sz="1100"/>
            </a:lvl7pPr>
            <a:lvl8pPr marL="2400300" indent="0">
              <a:buNone/>
              <a:defRPr sz="1100"/>
            </a:lvl8pPr>
            <a:lvl9pPr marL="274320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628650" y="273844"/>
            <a:ext cx="7886700" cy="43588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288E0-7875-42C4-84C8-98DBBD3BF4D2}" type="datetimeFigureOut">
              <a:rPr lang="zh-CN" altLang="en-US" smtClean="0"/>
              <a:t>2023/10/29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2.png"/><Relationship Id="rId5" Type="http://schemas.openxmlformats.org/officeDocument/2006/relationships/hyperlink" Target="https://www.baidu.com/s?ie=utf-8&amp;f=8&amp;rsv_bp=1&amp;rsv_idx=1&amp;tn=baidu&amp;wd=%E6%95%99%E8%82%B2%E6%A1%86%E6%9E%B6%E4%B8%8E%E6%A1%88%E4%BE%8B%E2%80%94%E2%80%94%E6%95%B0%E5%AD%97%E5%8C%96%E8%AE%A1%E7%AE%97%E6%80%9D%E7%BB%B4%E4%B8%8E%E4%BA%BA%E5%B7%A5%E6%99%BA%E8%83%BD%E7%BB%9F%E4%B8%80%E7%9A%84%E8%A7%86%E8%A7%92&amp;fenlei=256&amp;rsv_pq=0xc70e3f0b000afc38&amp;rsv_t=eb04ggyJxoJZZdApOdBbl7MW8rbTxyJyxOvYv1xLbW8Yt562iioMz5S6dirT&amp;rqlang=en&amp;rsv_enter=1&amp;rsv_dl=ib&amp;rsv_sug3=3&amp;rsv_n=2" TargetMode="Externa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audio" Target="../media/media6.m4a"/><Relationship Id="rId7" Type="http://schemas.openxmlformats.org/officeDocument/2006/relationships/image" Target="../media/image6.wmf"/><Relationship Id="rId2" Type="http://schemas.microsoft.com/office/2007/relationships/media" Target="../media/media6.m4a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1.bin"/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.png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6" Type="http://schemas.openxmlformats.org/officeDocument/2006/relationships/image" Target="../media/image7.png"/><Relationship Id="rId5" Type="http://schemas.openxmlformats.org/officeDocument/2006/relationships/hyperlink" Target="https://baike.baidu.com/item/%E5%91%A8%E4%BB%A5%E7%9C%9F/3287809?fr=aladdin" TargetMode="Externa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.png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6" Type="http://schemas.openxmlformats.org/officeDocument/2006/relationships/image" Target="../media/image2.png"/><Relationship Id="rId5" Type="http://schemas.openxmlformats.org/officeDocument/2006/relationships/hyperlink" Target="https://www.baidu.com/s?ie=utf-8&amp;f=8&amp;rsv_bp=1&amp;rsv_idx=1&amp;tn=baidu&amp;wd=%E6%95%99%E8%82%B2%E6%A1%86%E6%9E%B6%E4%B8%8E%E6%A1%88%E4%BE%8B%E2%80%94%E2%80%94%E6%95%B0%E5%AD%97%E5%8C%96%E8%AE%A1%E7%AE%97%E6%80%9D%E7%BB%B4%E4%B8%8E%E4%BA%BA%E5%B7%A5%E6%99%BA%E8%83%BD%E7%BB%9F%E4%B8%80%E7%9A%84%E8%A7%86%E8%A7%92&amp;fenlei=256&amp;rsv_pq=0xc70e3f0b000afc38&amp;rsv_t=eb04ggyJxoJZZdApOdBbl7MW8rbTxyJyxOvYv1xLbW8Yt562iioMz5S6dirT&amp;rqlang=en&amp;rsv_enter=1&amp;rsv_dl=ib&amp;rsv_sug3=3&amp;rsv_n=2" TargetMode="Externa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hlinkClick r:id="rId5"/>
          </p:cNvPr>
          <p:cNvSpPr txBox="1"/>
          <p:nvPr/>
        </p:nvSpPr>
        <p:spPr>
          <a:xfrm>
            <a:off x="629478" y="1354439"/>
            <a:ext cx="7885044" cy="1138745"/>
          </a:xfrm>
          <a:prstGeom prst="rect">
            <a:avLst/>
          </a:prstGeom>
          <a:noFill/>
        </p:spPr>
        <p:txBody>
          <a:bodyPr wrap="square" lIns="91413" tIns="45706" rIns="91413" bIns="45706" rtlCol="0">
            <a:spAutoFit/>
          </a:bodyPr>
          <a:lstStyle/>
          <a:p>
            <a:pPr algn="ctr"/>
            <a:r>
              <a:rPr lang="zh-CN" altLang="en-US" sz="3400" dirty="0">
                <a:solidFill>
                  <a:srgbClr val="33495E"/>
                </a:solidFill>
                <a:latin typeface="+mn-ea"/>
                <a:hlinkClick r:id="rId5"/>
              </a:rPr>
              <a:t>教育软件与教育技术</a:t>
            </a:r>
            <a:r>
              <a:rPr lang="zh-CN" altLang="en-US" sz="3400" dirty="0" smtClean="0">
                <a:solidFill>
                  <a:srgbClr val="33495E"/>
                </a:solidFill>
                <a:latin typeface="+mn-ea"/>
                <a:hlinkClick r:id="rId5"/>
              </a:rPr>
              <a:t>：</a:t>
            </a:r>
            <a:r>
              <a:rPr lang="zh-CN" altLang="en-US" sz="3400" dirty="0">
                <a:solidFill>
                  <a:srgbClr val="33495E"/>
                </a:solidFill>
                <a:latin typeface="+mn-ea"/>
                <a:hlinkClick r:id="rId5"/>
              </a:rPr>
              <a:t>数字</a:t>
            </a:r>
            <a:r>
              <a:rPr lang="zh-CN" altLang="en-US" sz="3400" dirty="0" smtClean="0">
                <a:solidFill>
                  <a:srgbClr val="33495E"/>
                </a:solidFill>
                <a:latin typeface="+mn-ea"/>
                <a:hlinkClick r:id="rId5"/>
              </a:rPr>
              <a:t>思维</a:t>
            </a:r>
            <a:r>
              <a:rPr lang="zh-CN" altLang="en-US" sz="3400" dirty="0">
                <a:solidFill>
                  <a:srgbClr val="33495E"/>
                </a:solidFill>
                <a:latin typeface="+mn-ea"/>
                <a:hlinkClick r:id="rId5"/>
              </a:rPr>
              <a:t>教育、</a:t>
            </a:r>
            <a:r>
              <a:rPr lang="zh-CN" altLang="en-US" sz="3400" dirty="0" smtClean="0">
                <a:solidFill>
                  <a:srgbClr val="33495E"/>
                </a:solidFill>
                <a:latin typeface="+mn-ea"/>
                <a:hlinkClick r:id="rId5"/>
              </a:rPr>
              <a:t>教育</a:t>
            </a:r>
            <a:r>
              <a:rPr lang="zh-CN" altLang="en-US" sz="3400" dirty="0">
                <a:solidFill>
                  <a:srgbClr val="33495E"/>
                </a:solidFill>
                <a:latin typeface="+mn-ea"/>
                <a:hlinkClick r:id="rId5"/>
              </a:rPr>
              <a:t>数字</a:t>
            </a:r>
            <a:r>
              <a:rPr lang="zh-CN" altLang="en-US" sz="3400" dirty="0" smtClean="0">
                <a:solidFill>
                  <a:srgbClr val="33495E"/>
                </a:solidFill>
                <a:latin typeface="+mn-ea"/>
                <a:hlinkClick r:id="rId5"/>
              </a:rPr>
              <a:t>思维</a:t>
            </a:r>
            <a:endParaRPr lang="zh-CN" altLang="en-US" sz="1600" dirty="0">
              <a:solidFill>
                <a:srgbClr val="33495E"/>
              </a:solidFill>
              <a:latin typeface="+mn-ea"/>
            </a:endParaRPr>
          </a:p>
        </p:txBody>
      </p:sp>
      <p:sp>
        <p:nvSpPr>
          <p:cNvPr id="4" name="文本框 1"/>
          <p:cNvSpPr txBox="1"/>
          <p:nvPr/>
        </p:nvSpPr>
        <p:spPr>
          <a:xfrm>
            <a:off x="5868969" y="4312145"/>
            <a:ext cx="2810563" cy="315471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en-US" altLang="zh-CN" sz="16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yuqin9999@dingtalk.com</a:t>
            </a:r>
            <a:endParaRPr lang="zh-CN" altLang="en-US" sz="16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3" name="Audio 2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2814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6057">
        <p14:ripple dir="lu"/>
      </p:transition>
    </mc:Choice>
    <mc:Fallback>
      <p:transition spd="slow" advTm="6057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835" y="314553"/>
            <a:ext cx="3825036" cy="2151583"/>
          </a:xfrm>
          <a:prstGeom prst="rect">
            <a:avLst/>
          </a:prstGeom>
        </p:spPr>
      </p:pic>
      <p:sp>
        <p:nvSpPr>
          <p:cNvPr id="4" name="Rounded Rectangular Callout 3"/>
          <p:cNvSpPr/>
          <p:nvPr/>
        </p:nvSpPr>
        <p:spPr>
          <a:xfrm>
            <a:off x="2926080" y="2513482"/>
            <a:ext cx="1065474" cy="817245"/>
          </a:xfrm>
          <a:prstGeom prst="wedgeRoundRectCallout">
            <a:avLst>
              <a:gd name="adj1" fmla="val -22326"/>
              <a:gd name="adj2" fmla="val -7616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zh-CN" altLang="en-US" dirty="0"/>
              <a:t>编辑时单击切换显示</a:t>
            </a:r>
            <a:r>
              <a:rPr lang="en-US" altLang="zh-CN" dirty="0" smtClean="0"/>
              <a:t>Notes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3240" y="2098710"/>
            <a:ext cx="4380505" cy="2464034"/>
          </a:xfrm>
          <a:prstGeom prst="rect">
            <a:avLst/>
          </a:prstGeom>
        </p:spPr>
      </p:pic>
      <p:sp>
        <p:nvSpPr>
          <p:cNvPr id="6" name="Rounded Rectangular Callout 5"/>
          <p:cNvSpPr/>
          <p:nvPr/>
        </p:nvSpPr>
        <p:spPr>
          <a:xfrm>
            <a:off x="7308572" y="1416559"/>
            <a:ext cx="1239079" cy="1505545"/>
          </a:xfrm>
          <a:prstGeom prst="wedgeRoundRectCallout">
            <a:avLst>
              <a:gd name="adj1" fmla="val 20958"/>
              <a:gd name="adj2" fmla="val 69774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zh-CN" altLang="en-US" dirty="0"/>
              <a:t>演示</a:t>
            </a:r>
            <a:r>
              <a:rPr lang="zh-CN" altLang="en-US" dirty="0" smtClean="0"/>
              <a:t>时右击菜单单击</a:t>
            </a:r>
            <a:r>
              <a:rPr lang="en-US" altLang="zh-CN" dirty="0" smtClean="0"/>
              <a:t>Show Presenter View</a:t>
            </a:r>
            <a:r>
              <a:rPr lang="zh-CN" altLang="en-US" dirty="0" smtClean="0"/>
              <a:t>切换</a:t>
            </a:r>
            <a:r>
              <a:rPr lang="zh-CN" altLang="en-US" dirty="0"/>
              <a:t>显示</a:t>
            </a:r>
            <a:r>
              <a:rPr lang="en-US" altLang="zh-CN" dirty="0" smtClean="0"/>
              <a:t>Notes</a:t>
            </a:r>
            <a:endParaRPr lang="en-US" dirty="0"/>
          </a:p>
        </p:txBody>
      </p:sp>
      <p:pic>
        <p:nvPicPr>
          <p:cNvPr id="3" name="Audio 2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72696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 advTm="448">
        <p15:prstTrans prst="peelOff"/>
      </p:transition>
    </mc:Choice>
    <mc:Fallback>
      <p:transition spd="slow" advTm="448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 descr="C:\Users\1\Documents\WeChat Files\wxid_ua0wgxfr986w52\FileStorage\Fav\Temp\8946c324\res\4d25ba3ecc0d901fcbc889184a55e253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222250"/>
            <a:ext cx="8674099" cy="4311650"/>
          </a:xfrm>
          <a:prstGeom prst="rect">
            <a:avLst/>
          </a:prstGeom>
          <a:noFill/>
          <a:ln w="9525">
            <a:solidFill>
              <a:srgbClr val="5B9BD5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/>
        </p:nvSpPr>
        <p:spPr>
          <a:xfrm>
            <a:off x="5767526" y="4533900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思政要素：学习兴趣、国家情怀</a:t>
            </a:r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  <p:pic>
        <p:nvPicPr>
          <p:cNvPr id="3" name="Audio 2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4156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71">
        <p14:ripple dir="lu"/>
      </p:transition>
    </mc:Choice>
    <mc:Fallback>
      <p:transition spd="slow" advTm="27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10182" y="523563"/>
            <a:ext cx="3134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 smtClean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教育</a:t>
            </a:r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数字</a:t>
            </a:r>
            <a:r>
              <a:rPr lang="zh-CN" altLang="en-US" sz="1800" dirty="0" smtClean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思维</a:t>
            </a:r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的具体案例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032" y="1138048"/>
            <a:ext cx="8132168" cy="42396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数字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思维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教育，即，“计算机</a:t>
            </a:r>
            <a:r>
              <a:rPr lang="en-US" altLang="zh-CN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硬件平台</a:t>
            </a:r>
            <a:r>
              <a:rPr lang="en-US" altLang="zh-CN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语言计算”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隐喻“人脑平台的字符</a:t>
            </a:r>
            <a:r>
              <a:rPr lang="en-US" altLang="zh-CN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语言计算”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</a:t>
            </a:r>
            <a:r>
              <a:rPr lang="zh-CN" altLang="en-US" sz="22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一数字思维本质</a:t>
            </a:r>
            <a:r>
              <a:rPr lang="zh-CN" altLang="en-US" sz="2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及其扩展，被用作教育的内容。</a:t>
            </a:r>
            <a:endParaRPr lang="en-US" altLang="zh-CN" sz="2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教育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数字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思维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，即，“计算机</a:t>
            </a:r>
            <a:r>
              <a:rPr lang="en-US" altLang="zh-CN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</a:t>
            </a:r>
            <a:r>
              <a:rPr lang="en-US" altLang="zh-CN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序列的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语言计算”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隐喻“人脑平台的字符</a:t>
            </a:r>
            <a:r>
              <a:rPr lang="en-US" altLang="zh-CN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语言计算”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一数字思维本质</a:t>
            </a:r>
            <a:r>
              <a:rPr lang="zh-CN" altLang="en-US" sz="22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及其扩展，被用作教育的方法</a:t>
            </a:r>
            <a:r>
              <a:rPr lang="zh-CN" altLang="en-US" sz="22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2200" dirty="0" smtClean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“教育数字思维”</a:t>
            </a:r>
            <a:r>
              <a:rPr lang="zh-CN" altLang="en-US" sz="22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是当前数字化计算时代所需的教育思维。研究</a:t>
            </a:r>
            <a:r>
              <a:rPr lang="zh-CN" altLang="en-US" sz="2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“教育数字思维”</a:t>
            </a:r>
            <a:r>
              <a:rPr lang="zh-CN" altLang="en-US" sz="22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，在教育领域具有现实意义</a:t>
            </a:r>
            <a:r>
              <a:rPr lang="zh-CN" altLang="en-US" sz="2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。可提升</a:t>
            </a:r>
            <a:r>
              <a:rPr lang="zh-CN" altLang="en-US" sz="22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教育思维的时代性、数字化、计算</a:t>
            </a:r>
            <a:r>
              <a:rPr lang="zh-CN" altLang="en-US" sz="2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性、人工智能特性，</a:t>
            </a:r>
            <a:r>
              <a:rPr lang="zh-CN" altLang="en-US" sz="22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提升全民数字素养与</a:t>
            </a:r>
            <a:r>
              <a:rPr lang="zh-CN" altLang="en-US" sz="2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技能。</a:t>
            </a:r>
            <a:endParaRPr lang="en-US" sz="22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spcAft>
                <a:spcPts val="713"/>
              </a:spcAft>
              <a:buClr>
                <a:srgbClr val="00544A"/>
              </a:buClr>
            </a:pPr>
            <a:endParaRPr lang="en-US" altLang="zh-CN" sz="32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188983" y="4441195"/>
            <a:ext cx="244169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100" b="1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sz="1100" b="1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思政要素：学思结合、实事求是</a:t>
            </a:r>
            <a:r>
              <a:rPr lang="zh-CN" altLang="en-US" sz="1100" b="1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b="1" dirty="0"/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06456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 advTm="221">
        <p15:prstTrans prst="peelOff"/>
      </p:transition>
    </mc:Choice>
    <mc:Fallback>
      <p:transition spd="slow" advTm="22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631513"/>
            <a:ext cx="3674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 smtClean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教育数字思维的</a:t>
            </a:r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本质、科学原理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032" y="1271398"/>
            <a:ext cx="7967068" cy="34419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7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zh-CN" altLang="en-US" sz="27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面向远古时代的</a:t>
            </a:r>
            <a:r>
              <a:rPr lang="zh-CN" altLang="en-US" sz="27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）数字思维本质</a:t>
            </a:r>
            <a:r>
              <a:rPr lang="zh-CN" altLang="en-US" sz="27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 ：“人脑的字符</a:t>
            </a:r>
            <a:r>
              <a:rPr lang="en-US" sz="27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7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</a:t>
            </a:r>
            <a:r>
              <a:rPr lang="zh-CN" altLang="en-US" sz="27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的多重进制的多媒体语言计算”</a:t>
            </a:r>
            <a:r>
              <a:rPr lang="zh-CN" altLang="en-US" sz="27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2700" dirty="0" smtClean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7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（面向图灵数字化计算时代的</a:t>
            </a:r>
            <a:r>
              <a:rPr lang="zh-CN" altLang="en-US" sz="27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）数字思维本质</a:t>
            </a:r>
            <a:r>
              <a:rPr lang="zh-CN" altLang="en-US" sz="27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，即：“计算机的</a:t>
            </a:r>
            <a:r>
              <a:rPr lang="en-US" altLang="zh-CN" sz="27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7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的二进制的数字语言计算”</a:t>
            </a:r>
            <a:r>
              <a:rPr lang="zh-CN" altLang="en-US" sz="27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27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Arial" panose="020B0604020202020204" pitchFamily="34" charset="0"/>
              <a:buChar char="•"/>
            </a:pPr>
            <a:r>
              <a:rPr lang="zh-CN" altLang="en-US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（面向当前数字化计算时代的</a:t>
            </a:r>
            <a:r>
              <a:rPr lang="zh-CN" altLang="en-US" sz="27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）数字思维的</a:t>
            </a:r>
            <a:r>
              <a:rPr lang="zh-CN" altLang="en-US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本质，即：“计算机</a:t>
            </a:r>
            <a:r>
              <a:rPr lang="en-US" altLang="zh-CN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7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语言计算”</a:t>
            </a:r>
            <a:r>
              <a:rPr lang="zh-CN" altLang="en-US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隐喻“人脑平台的字符</a:t>
            </a:r>
            <a:r>
              <a:rPr lang="en-US" altLang="zh-CN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</a:t>
            </a:r>
            <a:r>
              <a:rPr lang="zh-CN" altLang="en-US" sz="2700" dirty="0" smtClean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语言计算”</a:t>
            </a:r>
            <a:r>
              <a:rPr lang="zh-CN" altLang="en-US" sz="27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sz="27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831268" y="4559477"/>
            <a:ext cx="61093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（思政要素：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正确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认识问题、分析问题、解决问题、科学思维、科学伦理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  <p:pic>
        <p:nvPicPr>
          <p:cNvPr id="2" name="Audio 1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4179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 advTm="3148">
        <p15:prstTrans prst="peelOff"/>
      </p:transition>
    </mc:Choice>
    <mc:Fallback>
      <p:transition spd="slow" advTm="3148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455289" y="547212"/>
            <a:ext cx="4109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 smtClean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“教育数字思维”</a:t>
            </a:r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在教育教学中的应用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031" y="1195778"/>
            <a:ext cx="3010054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</a:pP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教育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的本质框架：“教育开始、教育中途、教育结束”中的“客户端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、互动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、服务端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MVC”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可以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选用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的“四个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平台语言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”，即，“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软件第二平台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语言计算、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软件第一平台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语言计算、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硬件第二平台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语言计算、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硬件第一平台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语言计算</a:t>
            </a:r>
            <a:r>
              <a:rPr lang="en-US" altLang="zh-CN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数字思维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的本质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】”</a:t>
            </a:r>
            <a:endParaRPr lang="en-US" sz="20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Striped Right Arrow 3"/>
          <p:cNvSpPr/>
          <p:nvPr/>
        </p:nvSpPr>
        <p:spPr>
          <a:xfrm>
            <a:off x="3590085" y="2471241"/>
            <a:ext cx="933450" cy="387350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6045200" y="13589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699003" y="436849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思政要素：大国工匠、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精益求精）</a:t>
            </a:r>
            <a:endParaRPr lang="en-US" dirty="0"/>
          </a:p>
        </p:txBody>
      </p:sp>
      <p:graphicFrame>
        <p:nvGraphicFramePr>
          <p:cNvPr id="10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7079407"/>
              </p:ext>
            </p:extLst>
          </p:nvPr>
        </p:nvGraphicFramePr>
        <p:xfrm>
          <a:off x="4584003" y="880090"/>
          <a:ext cx="4176712" cy="38215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7" name="Picture" r:id="rId6" imgW="4061520" imgH="4699800" progId="Word.Picture.8">
                  <p:embed/>
                </p:oleObj>
              </mc:Choice>
              <mc:Fallback>
                <p:oleObj name="Picture" r:id="rId6" imgW="4061520" imgH="4699800" progId="Word.Pictur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84003" y="880090"/>
                        <a:ext cx="4176712" cy="3821564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Audio 1">
            <a:hlinkClick r:id="" action="ppaction://media"/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53591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 advTm="2659">
        <p15:prstTrans prst="peelOff"/>
      </p:transition>
    </mc:Choice>
    <mc:Fallback>
      <p:transition spd="slow" advTm="2659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631513"/>
            <a:ext cx="4557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 smtClean="0"/>
              <a:t>教育数字思维的</a:t>
            </a:r>
            <a:r>
              <a:rPr lang="zh-CN" altLang="en-US" sz="1800" dirty="0"/>
              <a:t>自然与人文的统一观</a:t>
            </a:r>
            <a:endParaRPr lang="zh-CN" altLang="en-US" sz="1800" dirty="0">
              <a:solidFill>
                <a:srgbClr val="33495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5" name="Picture 4">
            <a:hlinkClick r:id="rId5"/>
          </p:cNvPr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0697"/>
            <a:ext cx="5506541" cy="246062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/>
          <p:cNvSpPr/>
          <p:nvPr/>
        </p:nvSpPr>
        <p:spPr>
          <a:xfrm rot="21410777">
            <a:off x="606780" y="3479224"/>
            <a:ext cx="82804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800" b="1" kern="100" dirty="0" smtClean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“数字思维的</a:t>
            </a:r>
            <a:r>
              <a:rPr lang="en-US" sz="1800" b="1" kern="100" dirty="0" smtClean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6 </a:t>
            </a:r>
            <a:r>
              <a:rPr lang="zh-CN" alt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个判定标准”：</a:t>
            </a:r>
            <a:r>
              <a:rPr 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是概念化，不是程序化；</a:t>
            </a:r>
            <a:r>
              <a:rPr 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是根本的技能，不是机械的技能；</a:t>
            </a:r>
            <a:r>
              <a:rPr 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是人的思维，不是计算机的思维；</a:t>
            </a:r>
            <a:r>
              <a:rPr 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4.</a:t>
            </a:r>
            <a:r>
              <a:rPr lang="zh-CN" alt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是数学和工程思维的互补与融合，不是纯数学；</a:t>
            </a:r>
            <a:r>
              <a:rPr 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5.</a:t>
            </a:r>
            <a:r>
              <a:rPr lang="zh-CN" alt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是思想，不是人造物；</a:t>
            </a:r>
            <a:r>
              <a:rPr 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6.</a:t>
            </a:r>
            <a:r>
              <a:rPr lang="zh-CN" altLang="en-US" sz="1800" b="1" kern="100" dirty="0">
                <a:solidFill>
                  <a:srgbClr val="00B050"/>
                </a:solidFill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是面向所有的人面向所有的领域，不是仅面向计算机仅面向定量的领域。</a:t>
            </a:r>
            <a:endParaRPr lang="en-US" sz="1800" b="1" dirty="0">
              <a:solidFill>
                <a:srgbClr val="00B05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99003" y="436849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思政要素：国家情怀、文化自信）</a:t>
            </a:r>
            <a:endParaRPr lang="en-US" dirty="0"/>
          </a:p>
        </p:txBody>
      </p:sp>
      <p:pic>
        <p:nvPicPr>
          <p:cNvPr id="3" name="Audio 2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17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 advTm="1739">
        <p15:prstTrans prst="peelOff"/>
      </p:transition>
    </mc:Choice>
    <mc:Fallback>
      <p:transition spd="slow" advTm="1739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5"/>
          <a:srcRect l="16078" t="8528" r="14488" b="16904"/>
          <a:stretch/>
        </p:blipFill>
        <p:spPr>
          <a:xfrm rot="20538853">
            <a:off x="549739" y="2288944"/>
            <a:ext cx="2495550" cy="2006600"/>
          </a:xfrm>
          <a:prstGeom prst="rect">
            <a:avLst/>
          </a:prstGeom>
        </p:spPr>
      </p:pic>
      <p:pic>
        <p:nvPicPr>
          <p:cNvPr id="1026" name="Picture 2" descr="大脑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5433">
            <a:off x="6610350" y="2344233"/>
            <a:ext cx="2095500" cy="2095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文本框 10"/>
          <p:cNvSpPr txBox="1"/>
          <p:nvPr/>
        </p:nvSpPr>
        <p:spPr>
          <a:xfrm>
            <a:off x="580032" y="631513"/>
            <a:ext cx="3674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 smtClean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教育数字思维的</a:t>
            </a:r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优缺点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1860550" y="903098"/>
            <a:ext cx="4787900" cy="372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</a:pPr>
            <a:r>
              <a:rPr lang="zh-CN" altLang="en-US" sz="28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业界认为，计算机思维最能隐喻人脑思维，但也必须注意到人机隐喻的一些缺陷，例如，计算机是“</a:t>
            </a:r>
            <a:r>
              <a:rPr lang="en-US" altLang="zh-CN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语言”的二进制电路组成的物性的机器，人是“字符</a:t>
            </a:r>
            <a:r>
              <a:rPr lang="en-US" altLang="zh-CN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非字符语言”的神经系统组成的人性的生物体，所以，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“数字思维本质”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必须物性与人性统一。</a:t>
            </a:r>
            <a:endParaRPr lang="en-US" sz="26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99003" y="436849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：辩证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思辨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、自主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优化）</a:t>
            </a:r>
            <a:endParaRPr lang="en-US" dirty="0"/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47133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 advTm="328">
        <p15:prstTrans prst="peelOff"/>
      </p:transition>
    </mc:Choice>
    <mc:Fallback>
      <p:transition spd="slow" advTm="328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631513"/>
            <a:ext cx="3134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测验、小结、讲后思考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xmlns="" id="{438813D7-676E-4BB1-8BD1-AA790C109740}"/>
              </a:ext>
            </a:extLst>
          </p:cNvPr>
          <p:cNvSpPr txBox="1"/>
          <p:nvPr/>
        </p:nvSpPr>
        <p:spPr>
          <a:xfrm>
            <a:off x="4787900" y="4346419"/>
            <a:ext cx="38105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（思政要素：学</a:t>
            </a:r>
            <a:r>
              <a:rPr lang="zh-CN" altLang="en-US" dirty="0"/>
              <a:t>思结合、知行统一、实事求是）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032" y="1271398"/>
            <a:ext cx="7967068" cy="26520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关于</a:t>
            </a:r>
            <a:r>
              <a:rPr lang="zh-CN" altLang="en-US" sz="3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教育数字思维的</a:t>
            </a:r>
            <a:r>
              <a:rPr lang="zh-CN" altLang="en-US" sz="3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说法，错误的是（）：</a:t>
            </a:r>
            <a:endParaRPr lang="en-US" altLang="zh-CN" sz="32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sz="24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．当前数字化计算时代需求的教育思维</a:t>
            </a:r>
            <a:endParaRPr lang="en-US" altLang="zh-CN" sz="24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sz="24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．数字思维在</a:t>
            </a:r>
            <a:r>
              <a:rPr lang="zh-CN" altLang="en-US" sz="24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教育领域的应用</a:t>
            </a:r>
            <a:endParaRPr lang="en-US" altLang="zh-CN" sz="24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4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．教育领域</a:t>
            </a:r>
            <a:r>
              <a:rPr lang="zh-CN" altLang="en-US" sz="24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的数字思维</a:t>
            </a:r>
            <a:endParaRPr lang="zh-CN" altLang="en-US" sz="24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4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4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．对教育进行计算的思维</a:t>
            </a:r>
            <a:endParaRPr lang="zh-CN" altLang="en-US" sz="24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70914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 advTm="33">
        <p15:prstTrans prst="peelOff"/>
      </p:transition>
    </mc:Choice>
    <mc:Fallback>
      <p:transition spd="slow" advTm="33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hlinkClick r:id="rId5"/>
          </p:cNvPr>
          <p:cNvSpPr txBox="1"/>
          <p:nvPr/>
        </p:nvSpPr>
        <p:spPr>
          <a:xfrm>
            <a:off x="2435781" y="1245349"/>
            <a:ext cx="4272439" cy="1177245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en-US" altLang="zh-CN" sz="7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  <a:hlinkClick r:id="rId5"/>
              </a:rPr>
              <a:t>THANKS</a:t>
            </a:r>
            <a:endParaRPr lang="en-US" altLang="zh-CN" sz="7200" dirty="0">
              <a:solidFill>
                <a:srgbClr val="33495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058406" y="2720907"/>
            <a:ext cx="2810563" cy="561692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zh-CN" altLang="en-US" sz="3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敬请</a:t>
            </a:r>
            <a:r>
              <a:rPr lang="zh-CN" altLang="en-US" sz="3200" dirty="0" smtClean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批评指正</a:t>
            </a:r>
            <a:endParaRPr lang="zh-CN" altLang="en-US" sz="3200" dirty="0">
              <a:solidFill>
                <a:srgbClr val="33495E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1"/>
          <p:cNvSpPr txBox="1"/>
          <p:nvPr/>
        </p:nvSpPr>
        <p:spPr>
          <a:xfrm>
            <a:off x="5868969" y="4312145"/>
            <a:ext cx="2810563" cy="315471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en-US" altLang="zh-CN" sz="16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yuqin9999@dingtalk.com</a:t>
            </a:r>
            <a:endParaRPr lang="zh-CN" altLang="en-US" sz="16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3" name="Audio 2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521700" y="4521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60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 advTm="395">
        <p14:warp/>
      </p:transition>
    </mc:Choice>
    <mc:Fallback>
      <p:transition spd="slow" advTm="395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Qzus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</TotalTime>
  <Words>754</Words>
  <Application>Microsoft Office PowerPoint</Application>
  <PresentationFormat>On-screen Show (16:9)</PresentationFormat>
  <Paragraphs>52</Paragraphs>
  <Slides>10</Slides>
  <Notes>10</Notes>
  <HiddenSlides>0</HiddenSlides>
  <MMClips>10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黑体</vt:lpstr>
      <vt:lpstr>宋体</vt:lpstr>
      <vt:lpstr>微软雅黑</vt:lpstr>
      <vt:lpstr>Arial</vt:lpstr>
      <vt:lpstr>Calibri</vt:lpstr>
      <vt:lpstr>Times New Roman</vt:lpstr>
      <vt:lpstr>Wingdings</vt:lpstr>
      <vt:lpstr>Qzuser</vt:lpstr>
      <vt:lpstr>Microsoft Word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qzuser;</dc:title>
  <dc:creator>qzuser</dc:creator>
  <cp:keywords>qzuser</cp:keywords>
  <dc:description>qzuser</dc:description>
  <cp:lastModifiedBy>Microsoft account</cp:lastModifiedBy>
  <cp:revision>189</cp:revision>
  <dcterms:created xsi:type="dcterms:W3CDTF">2016-05-20T12:59:00Z</dcterms:created>
  <dcterms:modified xsi:type="dcterms:W3CDTF">2023-10-29T03:29:06Z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2052-10.1.0.7698</vt:lpwstr>
  </property>
</Properties>
</file>